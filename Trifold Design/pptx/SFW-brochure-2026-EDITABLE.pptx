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outside-tr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940" y="244669"/>
            <a:ext cx="2688427" cy="43214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883"/>
              </a:lnSpc>
              <a:spcBef>
                <a:spcPts val="0"/>
              </a:spcBef>
              <a:spcAft>
                <a:spcPts val="0"/>
              </a:spcAft>
            </a:pPr>
            <a:r>
              <a:rPr sz="639" b="1" i="0" spc="96">
                <a:solidFill>
                  <a:srgbClr val="FFFFFF">
                    <a:alpha val="86000"/>
                  </a:srgbClr>
                </a:solidFill>
                <a:latin typeface="Montserrat"/>
              </a:rPr>
              <a:t>TEACHING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940" y="417932"/>
            <a:ext cx="2688427" cy="69329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47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8">
                <a:solidFill>
                  <a:srgbClr val="FFFFFF"/>
                </a:solidFill>
                <a:latin typeface="Montserrat"/>
              </a:rPr>
              <a:t>Anyone, anywhere, can</a:t>
            </a:r>
          </a:p>
          <a:p>
            <a:pPr algn="l">
              <a:lnSpc>
                <a:spcPts val="147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8">
                <a:solidFill>
                  <a:srgbClr val="FFFFFF"/>
                </a:solidFill>
                <a:latin typeface="Montserrat"/>
              </a:rPr>
              <a:t>learn to restore living soil.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652" y="2014116"/>
            <a:ext cx="2706715" cy="42720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844"/>
              </a:lnSpc>
              <a:spcBef>
                <a:spcPts val="0"/>
              </a:spcBef>
              <a:spcAft>
                <a:spcPts val="0"/>
              </a:spcAft>
            </a:pPr>
            <a:r>
              <a:rPr sz="669" b="0" i="1">
                <a:solidFill>
                  <a:srgbClr val="FFFFFF">
                    <a:alpha val="70000"/>
                  </a:srgbClr>
                </a:solidFill>
                <a:latin typeface="Source Sans 3"/>
              </a:rPr>
              <a:t>A mentor teaching on working land.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5940" y="2310033"/>
            <a:ext cx="2688427" cy="112818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274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FFFFFF"/>
                </a:solidFill>
                <a:latin typeface="Source Sans 3"/>
              </a:rPr>
              <a:t>From curiosity through to professional practice.</a:t>
            </a:r>
          </a:p>
          <a:p>
            <a:pPr algn="l">
              <a:lnSpc>
                <a:spcPts val="1274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FFFFFF"/>
                </a:solidFill>
                <a:latin typeface="Source Sans 3"/>
              </a:rPr>
              <a:t>Everyone starts with the Foundation Courses, and</a:t>
            </a:r>
          </a:p>
          <a:p>
            <a:pPr algn="l">
              <a:lnSpc>
                <a:spcPts val="1274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FFFFFF"/>
                </a:solidFill>
                <a:latin typeface="Source Sans 3"/>
              </a:rPr>
              <a:t>where you go next depends on whether you want to</a:t>
            </a:r>
          </a:p>
          <a:p>
            <a:pPr algn="l">
              <a:lnSpc>
                <a:spcPts val="1274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FFFFFF"/>
                </a:solidFill>
                <a:latin typeface="Source Sans 3"/>
              </a:rPr>
              <a:t>apply your skills to your own land or help others</a:t>
            </a:r>
          </a:p>
          <a:p>
            <a:pPr algn="l">
              <a:lnSpc>
                <a:spcPts val="1274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FFFFFF"/>
                </a:solidFill>
                <a:latin typeface="Source Sans 3"/>
              </a:rPr>
              <a:t>improve their soils.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8165" y="3203722"/>
            <a:ext cx="1104869" cy="4480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008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FFFFFF"/>
                </a:solidFill>
                <a:latin typeface="Montserrat"/>
              </a:rPr>
              <a:t>Foundation Courses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940" y="3381840"/>
            <a:ext cx="2688427" cy="98828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053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FFFFFF"/>
                </a:solidFill>
                <a:latin typeface="Source Sans 3"/>
              </a:rPr>
              <a:t>You'll learn the science of the soil food web, the organisms</a:t>
            </a:r>
          </a:p>
          <a:p>
            <a:pPr algn="l">
              <a:lnSpc>
                <a:spcPts val="1053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FFFFFF"/>
                </a:solidFill>
                <a:latin typeface="Source Sans 3"/>
              </a:rPr>
              <a:t>and their roles, use of a microscope for biological analyses</a:t>
            </a:r>
          </a:p>
          <a:p>
            <a:pPr algn="l">
              <a:lnSpc>
                <a:spcPts val="1053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FFFFFF"/>
                </a:solidFill>
                <a:latin typeface="Source Sans 3"/>
              </a:rPr>
              <a:t>and how biological amendments are made and applied. They</a:t>
            </a:r>
          </a:p>
          <a:p>
            <a:pPr algn="l">
              <a:lnSpc>
                <a:spcPts val="1053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FFFFFF"/>
                </a:solidFill>
                <a:latin typeface="Source Sans 3"/>
              </a:rPr>
              <a:t>are online, self-paced, take about 150 hours to complete, and</a:t>
            </a:r>
          </a:p>
          <a:p>
            <a:pPr algn="l">
              <a:lnSpc>
                <a:spcPts val="1053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FFFFFF"/>
                </a:solidFill>
                <a:latin typeface="Source Sans 3"/>
              </a:rPr>
              <a:t>are a prerequisite to any Advanced Program.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165" y="4196669"/>
            <a:ext cx="1133490" cy="4480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008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FFFFFF"/>
                </a:solidFill>
                <a:latin typeface="Montserrat"/>
              </a:rPr>
              <a:t>Advanced Programs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940" y="4374878"/>
            <a:ext cx="2688427" cy="85459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053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FFFFFF"/>
                </a:solidFill>
                <a:latin typeface="Source Sans 3"/>
              </a:rPr>
              <a:t>Learn the practical application of the theory you learned in the</a:t>
            </a:r>
          </a:p>
          <a:p>
            <a:pPr algn="l">
              <a:lnSpc>
                <a:spcPts val="1053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FFFFFF"/>
                </a:solidFill>
                <a:latin typeface="Source Sans 3"/>
              </a:rPr>
              <a:t>Foundation Courses through mentor-led Advanced Programs</a:t>
            </a:r>
          </a:p>
          <a:p>
            <a:pPr algn="l">
              <a:lnSpc>
                <a:spcPts val="1053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FFFFFF"/>
                </a:solidFill>
                <a:latin typeface="Source Sans 3"/>
              </a:rPr>
              <a:t>on Soil Microscopy, BioComplete™ Compost Production,</a:t>
            </a:r>
          </a:p>
          <a:p>
            <a:pPr algn="l">
              <a:lnSpc>
                <a:spcPts val="1053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FFFFFF"/>
                </a:solidFill>
                <a:latin typeface="Source Sans 3"/>
              </a:rPr>
              <a:t>Biological Liquid Amendments and Field Trial.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165" y="5056022"/>
            <a:ext cx="1285920" cy="4480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008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FFFFFF"/>
                </a:solidFill>
                <a:latin typeface="Montserrat"/>
              </a:rPr>
              <a:t>Accelerator Workshops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940" y="5234140"/>
            <a:ext cx="2688427" cy="72100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053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FFFFFF"/>
                </a:solidFill>
                <a:latin typeface="Source Sans 3"/>
              </a:rPr>
              <a:t>The Advanced Programs as a group on working land, the whole</a:t>
            </a:r>
          </a:p>
          <a:p>
            <a:pPr algn="l">
              <a:lnSpc>
                <a:spcPts val="1053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FFFFFF"/>
                </a:solidFill>
                <a:latin typeface="Source Sans 3"/>
              </a:rPr>
              <a:t>method at once. Held periodically with a host partner. Dates</a:t>
            </a:r>
          </a:p>
          <a:p>
            <a:pPr algn="l">
              <a:lnSpc>
                <a:spcPts val="1053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FFFFFF"/>
                </a:solidFill>
                <a:latin typeface="Source Sans 3"/>
              </a:rPr>
              <a:t>on the school site.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165" y="5781690"/>
            <a:ext cx="809609" cy="4480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008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FFFFFF"/>
                </a:solidFill>
                <a:latin typeface="Montserrat"/>
              </a:rPr>
              <a:t>Where it leads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940" y="5959899"/>
            <a:ext cx="2688427" cy="72100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053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FFFFFF"/>
                </a:solidFill>
                <a:latin typeface="Source Sans 3"/>
              </a:rPr>
              <a:t>All four Advanced Programs carry the Soil Food Web</a:t>
            </a:r>
          </a:p>
          <a:p>
            <a:pPr algn="l">
              <a:lnSpc>
                <a:spcPts val="1053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FFFFFF"/>
                </a:solidFill>
                <a:latin typeface="Source Sans 3"/>
              </a:rPr>
              <a:t>Consultant title; Soil Microscopy alone, the Lab Technician</a:t>
            </a:r>
          </a:p>
          <a:p>
            <a:pPr algn="l">
              <a:lnSpc>
                <a:spcPts val="1053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FFFFFF"/>
                </a:solidFill>
                <a:latin typeface="Source Sans 3"/>
              </a:rPr>
              <a:t>title. Prices at </a:t>
            </a:r>
            <a:r>
              <a:rPr sz="710" b="0" i="0">
                <a:solidFill>
                  <a:srgbClr val="FFFFFF"/>
                </a:solidFill>
                <a:latin typeface="Source Sans 3"/>
              </a:rPr>
              <a:t>school.soilfoodweb.com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137" y="6702003"/>
            <a:ext cx="1527230" cy="4525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044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ontserrat"/>
              </a:rPr>
              <a:t>Apply for a scholarship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137" y="6862412"/>
            <a:ext cx="1527230" cy="56025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47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FFFFFF">
                    <a:alpha val="86000"/>
                  </a:srgbClr>
                </a:solidFill>
                <a:latin typeface="Source Sans 3"/>
              </a:rPr>
              <a:t>Scholarships prioritize applicants in</a:t>
            </a:r>
          </a:p>
          <a:p>
            <a:pPr algn="l">
              <a:lnSpc>
                <a:spcPts val="947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FFFFFF">
                    <a:alpha val="86000"/>
                  </a:srgbClr>
                </a:solidFill>
                <a:latin typeface="Source Sans 3"/>
              </a:rPr>
              <a:t>under-resourced regions.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137" y="7130866"/>
            <a:ext cx="1527230" cy="44256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66"/>
              </a:lnSpc>
              <a:spcBef>
                <a:spcPts val="0"/>
              </a:spcBef>
              <a:spcAft>
                <a:spcPts val="0"/>
              </a:spcAft>
            </a:pPr>
            <a:r>
              <a:rPr sz="699" b="0" i="1">
                <a:solidFill>
                  <a:srgbClr val="FFFFFF">
                    <a:alpha val="70000"/>
                  </a:srgbClr>
                </a:solidFill>
                <a:latin typeface="Source Sans 3"/>
              </a:rPr>
              <a:t>sfw.one/brochure-scholarship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340" y="244669"/>
            <a:ext cx="2917027" cy="43214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883"/>
              </a:lnSpc>
              <a:spcBef>
                <a:spcPts val="0"/>
              </a:spcBef>
              <a:spcAft>
                <a:spcPts val="0"/>
              </a:spcAft>
            </a:pPr>
            <a:r>
              <a:rPr sz="639" b="1" i="0" spc="96">
                <a:solidFill>
                  <a:srgbClr val="FFFFFF">
                    <a:alpha val="86000"/>
                  </a:srgbClr>
                </a:solidFill>
                <a:latin typeface="Montserrat"/>
              </a:rPr>
              <a:t>COMMUNITY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340" y="417932"/>
            <a:ext cx="2917027" cy="69329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47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8">
                <a:solidFill>
                  <a:srgbClr val="FFFFFF"/>
                </a:solidFill>
                <a:latin typeface="Montserrat"/>
              </a:rPr>
              <a:t>A global community amplifies</a:t>
            </a:r>
          </a:p>
          <a:p>
            <a:pPr algn="l">
              <a:lnSpc>
                <a:spcPts val="147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8">
                <a:solidFill>
                  <a:srgbClr val="FFFFFF"/>
                </a:solidFill>
                <a:latin typeface="Montserrat"/>
              </a:rPr>
              <a:t>the impact of this vital work.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340" y="2014116"/>
            <a:ext cx="2917027" cy="42720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844"/>
              </a:lnSpc>
              <a:spcBef>
                <a:spcPts val="0"/>
              </a:spcBef>
              <a:spcAft>
                <a:spcPts val="0"/>
              </a:spcAft>
            </a:pPr>
            <a:r>
              <a:rPr sz="669" b="0" i="1">
                <a:solidFill>
                  <a:srgbClr val="6A665C"/>
                </a:solidFill>
                <a:latin typeface="Source Sans 3"/>
              </a:rPr>
              <a:t>A workshop group around a finished compost pile.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537" y="2360798"/>
            <a:ext cx="1755830" cy="58494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044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F3433"/>
                </a:solidFill>
                <a:latin typeface="Montserrat"/>
              </a:rPr>
              <a:t>Join the free online</a:t>
            </a:r>
          </a:p>
          <a:p>
            <a:pPr algn="l">
              <a:lnSpc>
                <a:spcPts val="1044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F3433"/>
                </a:solidFill>
                <a:latin typeface="Montserrat"/>
              </a:rPr>
              <a:t>community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537" y="2653703"/>
            <a:ext cx="1755830" cy="92052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47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4A463F"/>
                </a:solidFill>
                <a:latin typeface="Source Sans 3"/>
              </a:rPr>
              <a:t>Meet other people in the regenerative</a:t>
            </a:r>
          </a:p>
          <a:p>
            <a:pPr algn="l">
              <a:lnSpc>
                <a:spcPts val="947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4A463F"/>
                </a:solidFill>
                <a:latin typeface="Source Sans 3"/>
              </a:rPr>
              <a:t>agricultural space. Get your questions</a:t>
            </a:r>
          </a:p>
          <a:p>
            <a:pPr algn="l">
              <a:lnSpc>
                <a:spcPts val="947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4A463F"/>
                </a:solidFill>
                <a:latin typeface="Source Sans 3"/>
              </a:rPr>
              <a:t>answered by other practitioners of the soil</a:t>
            </a:r>
          </a:p>
          <a:p>
            <a:pPr algn="l">
              <a:lnSpc>
                <a:spcPts val="947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4A463F"/>
                </a:solidFill>
                <a:latin typeface="Source Sans 3"/>
              </a:rPr>
              <a:t>food web approach who share the desire to</a:t>
            </a:r>
          </a:p>
          <a:p>
            <a:pPr algn="l">
              <a:lnSpc>
                <a:spcPts val="947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4A463F"/>
                </a:solidFill>
                <a:latin typeface="Source Sans 3"/>
              </a:rPr>
              <a:t>restore the world's soils.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537" y="3282431"/>
            <a:ext cx="1755830" cy="44256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66"/>
              </a:lnSpc>
              <a:spcBef>
                <a:spcPts val="0"/>
              </a:spcBef>
              <a:spcAft>
                <a:spcPts val="0"/>
              </a:spcAft>
            </a:pPr>
            <a:r>
              <a:rPr sz="699" b="0" i="1">
                <a:solidFill>
                  <a:srgbClr val="6A665C"/>
                </a:solidFill>
                <a:latin typeface="Source Sans 3"/>
              </a:rPr>
              <a:t>sfw.one/brochure-community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56340" y="3529595"/>
            <a:ext cx="2917027" cy="149760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333130"/>
                </a:solidFill>
                <a:latin typeface="Source Sans 3"/>
              </a:rPr>
              <a:t>Dr. Elaine's soil food web approach is the key to rapid and</a:t>
            </a:r>
          </a:p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333130"/>
                </a:solidFill>
                <a:latin typeface="Source Sans 3"/>
              </a:rPr>
              <a:t>effective soil regeneration. Only with the complete soil food web</a:t>
            </a:r>
          </a:p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333130"/>
                </a:solidFill>
                <a:latin typeface="Source Sans 3"/>
              </a:rPr>
              <a:t>in place can the ecological functions of the soil be restored,</a:t>
            </a:r>
          </a:p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333130"/>
                </a:solidFill>
                <a:latin typeface="Source Sans 3"/>
              </a:rPr>
              <a:t>protecting and purifying the world's waterways, reversing</a:t>
            </a:r>
          </a:p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333130"/>
                </a:solidFill>
                <a:latin typeface="Source Sans 3"/>
              </a:rPr>
              <a:t>climate change and providing more nutritious foods. It's easy to</a:t>
            </a:r>
          </a:p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333130"/>
                </a:solidFill>
                <a:latin typeface="Source Sans 3"/>
              </a:rPr>
              <a:t>find your place in this movement. Reach out to discover</a:t>
            </a:r>
          </a:p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333130"/>
                </a:solidFill>
                <a:latin typeface="Source Sans 3"/>
              </a:rPr>
              <a:t>opportunities to join us as a student, volunteer, ambassador,</a:t>
            </a:r>
          </a:p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333130"/>
                </a:solidFill>
                <a:latin typeface="Source Sans 3"/>
              </a:rPr>
              <a:t>donor and partner. </a:t>
            </a:r>
            <a:r>
              <a:rPr sz="710" b="0" i="0">
                <a:solidFill>
                  <a:srgbClr val="156826"/>
                </a:solidFill>
                <a:latin typeface="Source Sans 3"/>
              </a:rPr>
              <a:t>info@soilfoodweb.com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6340" y="5177996"/>
            <a:ext cx="660836" cy="41129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719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 spc="50">
                <a:solidFill>
                  <a:srgbClr val="4F3433"/>
                </a:solidFill>
                <a:latin typeface="Montserrat"/>
              </a:rPr>
              <a:t>STUDY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8526" y="5177996"/>
            <a:ext cx="660836" cy="41129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719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 spc="50">
                <a:solidFill>
                  <a:srgbClr val="4F3433"/>
                </a:solidFill>
                <a:latin typeface="Montserrat"/>
              </a:rPr>
              <a:t>VOLUNTEER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60711" y="5177996"/>
            <a:ext cx="660836" cy="41129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719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 spc="50">
                <a:solidFill>
                  <a:srgbClr val="4F3433"/>
                </a:solidFill>
                <a:latin typeface="Montserrat"/>
              </a:rPr>
              <a:t>DONATE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2896" y="5177996"/>
            <a:ext cx="660836" cy="41129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719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 spc="50">
                <a:solidFill>
                  <a:srgbClr val="4F3433"/>
                </a:solidFill>
                <a:latin typeface="Montserrat"/>
              </a:rPr>
              <a:t>HOST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94232" y="5562265"/>
            <a:ext cx="2660446" cy="69640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87"/>
              </a:lnSpc>
              <a:spcBef>
                <a:spcPts val="0"/>
              </a:spcBef>
              <a:spcAft>
                <a:spcPts val="0"/>
              </a:spcAft>
            </a:pPr>
            <a:r>
              <a:rPr sz="759" b="1" i="0">
                <a:solidFill>
                  <a:srgbClr val="FFFFFF"/>
                </a:solidFill>
                <a:latin typeface="Montserrat"/>
              </a:rPr>
              <a:t>5441 S Macadam Ave Ste N</a:t>
            </a:r>
          </a:p>
          <a:p>
            <a:pPr algn="l">
              <a:lnSpc>
                <a:spcPts val="987"/>
              </a:lnSpc>
              <a:spcBef>
                <a:spcPts val="0"/>
              </a:spcBef>
              <a:spcAft>
                <a:spcPts val="0"/>
              </a:spcAft>
            </a:pPr>
            <a:r>
              <a:rPr sz="759" b="1" i="0">
                <a:solidFill>
                  <a:srgbClr val="FFFFFF"/>
                </a:solidFill>
                <a:latin typeface="Montserrat"/>
              </a:rPr>
              <a:t>Portland, Oregon 97239</a:t>
            </a:r>
          </a:p>
          <a:p>
            <a:pPr algn="l">
              <a:lnSpc>
                <a:spcPts val="987"/>
              </a:lnSpc>
              <a:spcBef>
                <a:spcPts val="0"/>
              </a:spcBef>
              <a:spcAft>
                <a:spcPts val="0"/>
              </a:spcAft>
            </a:pPr>
            <a:r>
              <a:rPr sz="759" b="1" i="0">
                <a:solidFill>
                  <a:srgbClr val="FFFFFF"/>
                </a:solidFill>
                <a:latin typeface="Montserrat"/>
              </a:rPr>
              <a:t>soilfoodweb.com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94232" y="5979069"/>
            <a:ext cx="2660446" cy="5531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18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FFFFFF">
                    <a:alpha val="82000"/>
                  </a:srgbClr>
                </a:solidFill>
                <a:latin typeface="Source Sans 3"/>
              </a:rPr>
              <a:t>Soil Food Web Foundation is a 501(c)(3) nonprofit organization, EIN 39-</a:t>
            </a:r>
          </a:p>
          <a:p>
            <a:pPr algn="l">
              <a:lnSpc>
                <a:spcPts val="918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FFFFFF">
                    <a:alpha val="82000"/>
                  </a:srgbClr>
                </a:solidFill>
                <a:latin typeface="Source Sans 3"/>
              </a:rPr>
              <a:t>4439236. The Soil Food Web School is a program of the Foundation.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537" y="6641836"/>
            <a:ext cx="1755830" cy="4525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044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ontserrat"/>
              </a:rPr>
              <a:t>Donate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537" y="6802336"/>
            <a:ext cx="1755830" cy="68031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47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FFFFFF">
                    <a:alpha val="86000"/>
                  </a:srgbClr>
                </a:solidFill>
                <a:latin typeface="Source Sans 3"/>
              </a:rPr>
              <a:t>Gifts fund open research, scholarships and</a:t>
            </a:r>
          </a:p>
          <a:p>
            <a:pPr algn="l">
              <a:lnSpc>
                <a:spcPts val="947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FFFFFF">
                    <a:alpha val="86000"/>
                  </a:srgbClr>
                </a:solidFill>
                <a:latin typeface="Source Sans 3"/>
              </a:rPr>
              <a:t>field projects. Tax-deductible to the extent</a:t>
            </a:r>
          </a:p>
          <a:p>
            <a:pPr algn="l">
              <a:lnSpc>
                <a:spcPts val="947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FFFFFF">
                    <a:alpha val="86000"/>
                  </a:srgbClr>
                </a:solidFill>
                <a:latin typeface="Source Sans 3"/>
              </a:rPr>
              <a:t>allowed by law.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537" y="7190851"/>
            <a:ext cx="1755830" cy="44256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66"/>
              </a:lnSpc>
              <a:spcBef>
                <a:spcPts val="0"/>
              </a:spcBef>
              <a:spcAft>
                <a:spcPts val="0"/>
              </a:spcAft>
            </a:pPr>
            <a:r>
              <a:rPr sz="699" b="0" i="1">
                <a:solidFill>
                  <a:srgbClr val="FFFFFF">
                    <a:alpha val="70000"/>
                  </a:srgbClr>
                </a:solidFill>
                <a:latin typeface="Source Sans 3"/>
              </a:rPr>
              <a:t>sfw.one/brochure-donate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08300" y="169955"/>
            <a:ext cx="1061161" cy="64986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299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 spc="-9">
                <a:solidFill>
                  <a:srgbClr val="4F3433"/>
                </a:solidFill>
                <a:latin typeface="Montserrat"/>
              </a:rPr>
              <a:t>Soil Food Web</a:t>
            </a:r>
          </a:p>
          <a:p>
            <a:pPr algn="l">
              <a:lnSpc>
                <a:spcPts val="1299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 spc="-9">
                <a:solidFill>
                  <a:srgbClr val="4F3433"/>
                </a:solidFill>
                <a:latin typeface="Montserrat"/>
              </a:rPr>
              <a:t>Foundation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08300" y="502926"/>
            <a:ext cx="1061161" cy="46021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0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6A665C"/>
                </a:solidFill>
                <a:latin typeface="Source Sans 3"/>
              </a:rPr>
              <a:t>A 501(c)(3) nonprofit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85340" y="2037838"/>
            <a:ext cx="2917027" cy="114290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pc="-12">
                <a:solidFill>
                  <a:srgbClr val="4F3433"/>
                </a:solidFill>
                <a:latin typeface="Montserrat"/>
              </a:rPr>
              <a:t>The soil beneath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pc="-12">
                <a:solidFill>
                  <a:srgbClr val="4F3433"/>
                </a:solidFill>
                <a:latin typeface="Montserrat"/>
              </a:rPr>
              <a:t>our farms and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pc="-12">
                <a:solidFill>
                  <a:srgbClr val="4F3433"/>
                </a:solidFill>
                <a:latin typeface="Montserrat"/>
              </a:rPr>
              <a:t>forests is alive.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85340" y="3021162"/>
            <a:ext cx="2917027" cy="80494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274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333130"/>
                </a:solidFill>
                <a:latin typeface="Source Sans 3"/>
              </a:rPr>
              <a:t>A web of bacteria, fungi, protozoa, nematodes and</a:t>
            </a:r>
          </a:p>
          <a:p>
            <a:pPr algn="l">
              <a:lnSpc>
                <a:spcPts val="1274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333130"/>
                </a:solidFill>
                <a:latin typeface="Source Sans 3"/>
              </a:rPr>
              <a:t>microarthropods feeds plants, builds soil, stores carbon</a:t>
            </a:r>
          </a:p>
          <a:p>
            <a:pPr algn="l">
              <a:lnSpc>
                <a:spcPts val="1274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333130"/>
                </a:solidFill>
                <a:latin typeface="Source Sans 3"/>
              </a:rPr>
              <a:t>and cleans water </a:t>
            </a:r>
            <a:r>
              <a:rPr sz="980" b="0" i="1">
                <a:solidFill>
                  <a:srgbClr val="333130"/>
                </a:solidFill>
                <a:latin typeface="Source Sans 3"/>
              </a:rPr>
              <a:t>when it is intact</a:t>
            </a:r>
            <a:r>
              <a:rPr sz="980" b="0" i="0">
                <a:solidFill>
                  <a:srgbClr val="333130"/>
                </a:solidFill>
                <a:latin typeface="Source Sans 3"/>
              </a:rPr>
              <a:t>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85340" y="3559222"/>
            <a:ext cx="2917027" cy="120316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333130"/>
                </a:solidFill>
                <a:latin typeface="Source Sans 3"/>
              </a:rPr>
              <a:t>For forty-five years, Dr. Elaine Ingham mapped the Soil Food Web</a:t>
            </a:r>
          </a:p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333130"/>
                </a:solidFill>
                <a:latin typeface="Source Sans 3"/>
              </a:rPr>
              <a:t>and taught the world to restore it. We carry her legacy forward:</a:t>
            </a:r>
          </a:p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333130"/>
                </a:solidFill>
                <a:latin typeface="Source Sans 3"/>
              </a:rPr>
              <a:t>showing </a:t>
            </a:r>
            <a:r>
              <a:rPr sz="839" b="1" i="0">
                <a:solidFill>
                  <a:srgbClr val="333130"/>
                </a:solidFill>
                <a:latin typeface="Source Sans 3"/>
              </a:rPr>
              <a:t>what</a:t>
            </a:r>
            <a:r>
              <a:rPr sz="839" b="0" i="0">
                <a:solidFill>
                  <a:srgbClr val="333130"/>
                </a:solidFill>
                <a:latin typeface="Source Sans 3"/>
              </a:rPr>
              <a:t> is possible, teaching </a:t>
            </a:r>
            <a:r>
              <a:rPr sz="839" b="1" i="0">
                <a:solidFill>
                  <a:srgbClr val="333130"/>
                </a:solidFill>
                <a:latin typeface="Source Sans 3"/>
              </a:rPr>
              <a:t>how</a:t>
            </a:r>
            <a:r>
              <a:rPr sz="839" b="0" i="0">
                <a:solidFill>
                  <a:srgbClr val="333130"/>
                </a:solidFill>
                <a:latin typeface="Source Sans 3"/>
              </a:rPr>
              <a:t> to partner with life in the</a:t>
            </a:r>
          </a:p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333130"/>
                </a:solidFill>
                <a:latin typeface="Source Sans 3"/>
              </a:rPr>
              <a:t>soil, researching </a:t>
            </a:r>
            <a:r>
              <a:rPr sz="839" b="1" i="0">
                <a:solidFill>
                  <a:srgbClr val="333130"/>
                </a:solidFill>
                <a:latin typeface="Source Sans 3"/>
              </a:rPr>
              <a:t>why</a:t>
            </a:r>
            <a:r>
              <a:rPr sz="839" b="0" i="0">
                <a:solidFill>
                  <a:srgbClr val="333130"/>
                </a:solidFill>
                <a:latin typeface="Source Sans 3"/>
              </a:rPr>
              <a:t> things work or do not, and getting dirty</a:t>
            </a:r>
          </a:p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333130"/>
                </a:solidFill>
                <a:latin typeface="Source Sans 3"/>
              </a:rPr>
              <a:t>through </a:t>
            </a:r>
            <a:r>
              <a:rPr sz="839" b="1" i="0">
                <a:solidFill>
                  <a:srgbClr val="333130"/>
                </a:solidFill>
                <a:latin typeface="Source Sans 3"/>
              </a:rPr>
              <a:t>direct action</a:t>
            </a:r>
            <a:r>
              <a:rPr sz="839" b="0" i="0">
                <a:solidFill>
                  <a:srgbClr val="333130"/>
                </a:solidFill>
                <a:latin typeface="Source Sans 3"/>
              </a:rPr>
              <a:t> on working land. Living soil is the solution,</a:t>
            </a:r>
          </a:p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333130"/>
                </a:solidFill>
                <a:latin typeface="Source Sans 3"/>
              </a:rPr>
              <a:t>and it is beneath your feet.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85340" y="4913186"/>
            <a:ext cx="660836" cy="41129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719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 spc="50">
                <a:solidFill>
                  <a:srgbClr val="4F3433"/>
                </a:solidFill>
                <a:latin typeface="Montserrat"/>
              </a:rPr>
              <a:t>EDUCATION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7525" y="4913186"/>
            <a:ext cx="660836" cy="41129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719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 spc="50">
                <a:solidFill>
                  <a:srgbClr val="4F3433"/>
                </a:solidFill>
                <a:latin typeface="Montserrat"/>
              </a:rPr>
              <a:t>RESEARCH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9711" y="4913186"/>
            <a:ext cx="660836" cy="41129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719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 spc="50">
                <a:solidFill>
                  <a:srgbClr val="4F3433"/>
                </a:solidFill>
                <a:latin typeface="Montserrat"/>
              </a:rPr>
              <a:t>PRACTICE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1896" y="4913186"/>
            <a:ext cx="660836" cy="41129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719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 spc="50">
                <a:solidFill>
                  <a:srgbClr val="4F3433"/>
                </a:solidFill>
                <a:latin typeface="Montserrat"/>
              </a:rPr>
              <a:t>COMMUNITY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85340" y="5538978"/>
            <a:ext cx="2917027" cy="53602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-34">
                <a:solidFill>
                  <a:srgbClr val="FFFFFF"/>
                </a:solidFill>
                <a:latin typeface="Montserrat"/>
              </a:rPr>
              <a:t>132+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85340" y="5774823"/>
            <a:ext cx="2917027" cy="44430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79"/>
              </a:lnSpc>
              <a:spcBef>
                <a:spcPts val="0"/>
              </a:spcBef>
              <a:spcAft>
                <a:spcPts val="0"/>
              </a:spcAft>
            </a:pPr>
            <a:r>
              <a:rPr sz="789" b="0" i="0">
                <a:solidFill>
                  <a:srgbClr val="FFFFFF">
                    <a:alpha val="86000"/>
                  </a:srgbClr>
                </a:solidFill>
                <a:latin typeface="Source Sans 3"/>
              </a:rPr>
              <a:t>Countries in our student and practitioner community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85340" y="6030194"/>
            <a:ext cx="2917027" cy="53602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-34">
                <a:solidFill>
                  <a:srgbClr val="FFFFFF"/>
                </a:solidFill>
                <a:latin typeface="Montserrat"/>
              </a:rPr>
              <a:t>10,000+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85340" y="6266130"/>
            <a:ext cx="2917027" cy="44430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79"/>
              </a:lnSpc>
              <a:spcBef>
                <a:spcPts val="0"/>
              </a:spcBef>
              <a:spcAft>
                <a:spcPts val="0"/>
              </a:spcAft>
            </a:pPr>
            <a:r>
              <a:rPr sz="789" b="0" i="0">
                <a:solidFill>
                  <a:srgbClr val="FFFFFF">
                    <a:alpha val="86000"/>
                  </a:srgbClr>
                </a:solidFill>
                <a:latin typeface="Source Sans 3"/>
              </a:rPr>
              <a:t>Individuals enrolled in our programs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85340" y="6521501"/>
            <a:ext cx="2917027" cy="53602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-34">
                <a:solidFill>
                  <a:srgbClr val="FFFFFF"/>
                </a:solidFill>
                <a:latin typeface="Montserrat"/>
              </a:rPr>
              <a:t>45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85340" y="6757437"/>
            <a:ext cx="2917027" cy="44430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79"/>
              </a:lnSpc>
              <a:spcBef>
                <a:spcPts val="0"/>
              </a:spcBef>
              <a:spcAft>
                <a:spcPts val="0"/>
              </a:spcAft>
            </a:pPr>
            <a:r>
              <a:rPr sz="789" b="0" i="0">
                <a:solidFill>
                  <a:srgbClr val="FFFFFF">
                    <a:alpha val="86000"/>
                  </a:srgbClr>
                </a:solidFill>
                <a:latin typeface="Source Sans 3"/>
              </a:rPr>
              <a:t>Years of pioneering soil biology research behind the method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85340" y="7002628"/>
            <a:ext cx="2917027" cy="81473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299"/>
              </a:lnSpc>
              <a:spcBef>
                <a:spcPts val="0"/>
              </a:spcBef>
              <a:spcAft>
                <a:spcPts val="0"/>
              </a:spcAft>
            </a:pPr>
            <a:r>
              <a:rPr sz="999" b="1" i="0" spc="-4">
                <a:solidFill>
                  <a:srgbClr val="FFFFFF"/>
                </a:solidFill>
                <a:latin typeface="Montserrat"/>
              </a:rPr>
              <a:t>Healing soil.</a:t>
            </a:r>
          </a:p>
          <a:p>
            <a:pPr algn="l">
              <a:lnSpc>
                <a:spcPts val="1299"/>
              </a:lnSpc>
              <a:spcBef>
                <a:spcPts val="0"/>
              </a:spcBef>
              <a:spcAft>
                <a:spcPts val="0"/>
              </a:spcAft>
            </a:pPr>
            <a:r>
              <a:rPr sz="999" b="1" i="0" spc="-4">
                <a:solidFill>
                  <a:srgbClr val="FFFFFF"/>
                </a:solidFill>
                <a:latin typeface="Montserrat"/>
              </a:rPr>
              <a:t>Feeding humanity.</a:t>
            </a:r>
          </a:p>
          <a:p>
            <a:pPr algn="l">
              <a:lnSpc>
                <a:spcPts val="1299"/>
              </a:lnSpc>
              <a:spcBef>
                <a:spcPts val="0"/>
              </a:spcBef>
              <a:spcAft>
                <a:spcPts val="0"/>
              </a:spcAft>
            </a:pPr>
            <a:r>
              <a:rPr sz="999" b="1" i="0" spc="-4">
                <a:solidFill>
                  <a:srgbClr val="FFFFFF"/>
                </a:solidFill>
                <a:latin typeface="Montserrat"/>
              </a:rPr>
              <a:t>Restoring the living world.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inside-tr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940" y="244669"/>
            <a:ext cx="2917027" cy="43214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883"/>
              </a:lnSpc>
              <a:spcBef>
                <a:spcPts val="0"/>
              </a:spcBef>
              <a:spcAft>
                <a:spcPts val="0"/>
              </a:spcAft>
            </a:pPr>
            <a:r>
              <a:rPr sz="639" b="1" i="0" spc="96">
                <a:solidFill>
                  <a:srgbClr val="FFFFFF">
                    <a:alpha val="86000"/>
                  </a:srgbClr>
                </a:solidFill>
                <a:latin typeface="Montserrat"/>
              </a:rPr>
              <a:t>OUR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940" y="417932"/>
            <a:ext cx="2917027" cy="69329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47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8">
                <a:solidFill>
                  <a:srgbClr val="FFFFFF"/>
                </a:solidFill>
                <a:latin typeface="Montserrat"/>
              </a:rPr>
              <a:t>It began with one</a:t>
            </a:r>
          </a:p>
          <a:p>
            <a:pPr algn="l">
              <a:lnSpc>
                <a:spcPts val="147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8">
                <a:solidFill>
                  <a:srgbClr val="FFFFFF"/>
                </a:solidFill>
                <a:latin typeface="Montserrat"/>
              </a:rPr>
              <a:t>scientist looking closer.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652" y="2014116"/>
            <a:ext cx="2935315" cy="42720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844"/>
              </a:lnSpc>
              <a:spcBef>
                <a:spcPts val="0"/>
              </a:spcBef>
              <a:spcAft>
                <a:spcPts val="0"/>
              </a:spcAft>
            </a:pPr>
            <a:r>
              <a:rPr sz="669" b="0" i="1">
                <a:solidFill>
                  <a:srgbClr val="FFFFFF">
                    <a:alpha val="70000"/>
                  </a:srgbClr>
                </a:solidFill>
                <a:latin typeface="Source Sans 3"/>
              </a:rPr>
              <a:t>Dr. Elaine Ingham at the microscope.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5940" y="2221638"/>
            <a:ext cx="2917027" cy="10560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FFFFFF"/>
                </a:solidFill>
                <a:latin typeface="Source Sans 3"/>
              </a:rPr>
              <a:t>The Soil Food Web Foundation was established in October 2025</a:t>
            </a:r>
          </a:p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FFFFFF"/>
                </a:solidFill>
                <a:latin typeface="Source Sans 3"/>
              </a:rPr>
              <a:t>to carry forward the life's work of Dr. Elaine Ingham, the</a:t>
            </a:r>
          </a:p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FFFFFF"/>
                </a:solidFill>
                <a:latin typeface="Source Sans 3"/>
              </a:rPr>
              <a:t>pioneering scientist whose research transformed our</a:t>
            </a:r>
          </a:p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FFFFFF"/>
                </a:solidFill>
                <a:latin typeface="Source Sans 3"/>
              </a:rPr>
              <a:t>understanding of soil biology and its central role in food</a:t>
            </a:r>
          </a:p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FFFFFF"/>
                </a:solidFill>
                <a:latin typeface="Source Sans 3"/>
              </a:rPr>
              <a:t>production, ecosystem health, and planetary regeneration.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5940" y="3012411"/>
            <a:ext cx="2917027" cy="90882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FFFFFF"/>
                </a:solidFill>
                <a:latin typeface="Source Sans 3"/>
              </a:rPr>
              <a:t>She passed away in February 2026, and the work she started</a:t>
            </a:r>
          </a:p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FFFFFF"/>
                </a:solidFill>
                <a:latin typeface="Source Sans 3"/>
              </a:rPr>
              <a:t>continues through the Foundation, the school that is a part of it,</a:t>
            </a:r>
          </a:p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FFFFFF"/>
                </a:solidFill>
                <a:latin typeface="Source Sans 3"/>
              </a:rPr>
              <a:t>and Soil Food Web practitioners in more than 132 countries, who</a:t>
            </a:r>
          </a:p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FFFFFF"/>
                </a:solidFill>
                <a:latin typeface="Source Sans 3"/>
              </a:rPr>
              <a:t>are helping to restore the world's soils.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53621" y="3943226"/>
            <a:ext cx="1419240" cy="54077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844"/>
              </a:lnSpc>
              <a:spcBef>
                <a:spcPts val="0"/>
              </a:spcBef>
              <a:spcAft>
                <a:spcPts val="0"/>
              </a:spcAft>
            </a:pPr>
            <a:r>
              <a:rPr sz="669" b="0" i="1">
                <a:solidFill>
                  <a:srgbClr val="FFFFFF">
                    <a:alpha val="70000"/>
                  </a:srgbClr>
                </a:solidFill>
                <a:latin typeface="Source Sans 3"/>
              </a:rPr>
              <a:t>Examine Dr. Ingham's publications here:</a:t>
            </a:r>
          </a:p>
          <a:p>
            <a:pPr algn="l">
              <a:lnSpc>
                <a:spcPts val="844"/>
              </a:lnSpc>
              <a:spcBef>
                <a:spcPts val="0"/>
              </a:spcBef>
              <a:spcAft>
                <a:spcPts val="0"/>
              </a:spcAft>
            </a:pPr>
            <a:r>
              <a:rPr sz="669" b="0" i="1">
                <a:solidFill>
                  <a:srgbClr val="FFFFFF">
                    <a:alpha val="70000"/>
                  </a:srgbClr>
                </a:solidFill>
                <a:latin typeface="Source Sans 3"/>
              </a:rPr>
              <a:t>sfw.one/publications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3013" y="4603718"/>
            <a:ext cx="2441265" cy="4845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80"/>
              </a:lnSpc>
              <a:spcBef>
                <a:spcPts val="0"/>
              </a:spcBef>
              <a:spcAft>
                <a:spcPts val="0"/>
              </a:spcAft>
            </a:pPr>
            <a:r>
              <a:rPr sz="759" b="1" i="0" spc="46">
                <a:solidFill>
                  <a:srgbClr val="FFFFFF"/>
                </a:solidFill>
                <a:latin typeface="Source Sans 3"/>
              </a:rPr>
              <a:t>WHY THIS MATTERS FOR CLIMATE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832" y="4788240"/>
            <a:ext cx="2660446" cy="179332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48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FFFFFF"/>
                </a:solidFill>
                <a:latin typeface="Source Sans 3"/>
              </a:rPr>
              <a:t>Soil carbon sequestration is widely recognized as a part</a:t>
            </a:r>
          </a:p>
          <a:p>
            <a:pPr algn="l">
              <a:lnSpc>
                <a:spcPts val="1148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FFFFFF"/>
                </a:solidFill>
                <a:latin typeface="Source Sans 3"/>
              </a:rPr>
              <a:t>of the solution to climate change impacts. Plants pull</a:t>
            </a:r>
          </a:p>
          <a:p>
            <a:pPr algn="l">
              <a:lnSpc>
                <a:spcPts val="1148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FFFFFF"/>
                </a:solidFill>
                <a:latin typeface="Source Sans 3"/>
              </a:rPr>
              <a:t>carbon from the air and invest much of it in the soil, where</a:t>
            </a:r>
          </a:p>
          <a:p>
            <a:pPr algn="l">
              <a:lnSpc>
                <a:spcPts val="1148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FFFFFF"/>
                </a:solidFill>
                <a:latin typeface="Source Sans 3"/>
              </a:rPr>
              <a:t>it is built into microbial bodies, aggregates and complex</a:t>
            </a:r>
          </a:p>
          <a:p>
            <a:pPr algn="l">
              <a:lnSpc>
                <a:spcPts val="1148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FFFFFF"/>
                </a:solidFill>
                <a:latin typeface="Source Sans 3"/>
              </a:rPr>
              <a:t>fungal networks. A biological approach to soil</a:t>
            </a:r>
          </a:p>
          <a:p>
            <a:pPr algn="l">
              <a:lnSpc>
                <a:spcPts val="1148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FFFFFF"/>
                </a:solidFill>
                <a:latin typeface="Source Sans 3"/>
              </a:rPr>
              <a:t>management reduces equipment emissions, reduces</a:t>
            </a:r>
          </a:p>
          <a:p>
            <a:pPr algn="l">
              <a:lnSpc>
                <a:spcPts val="1148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FFFFFF"/>
                </a:solidFill>
                <a:latin typeface="Source Sans 3"/>
              </a:rPr>
              <a:t>fertilizer and irrigation needs and creates more nutritious</a:t>
            </a:r>
          </a:p>
          <a:p>
            <a:pPr algn="l">
              <a:lnSpc>
                <a:spcPts val="1148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FFFFFF"/>
                </a:solidFill>
                <a:latin typeface="Source Sans 3"/>
              </a:rPr>
              <a:t>crops. Regenerating the world's soils using the Soil Food</a:t>
            </a:r>
          </a:p>
          <a:p>
            <a:pPr algn="l">
              <a:lnSpc>
                <a:spcPts val="1148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FFFFFF"/>
                </a:solidFill>
                <a:latin typeface="Source Sans 3"/>
              </a:rPr>
              <a:t>Web Approach can improve atmospheric carbon levels.</a:t>
            </a:r>
          </a:p>
          <a:p>
            <a:pPr algn="l">
              <a:lnSpc>
                <a:spcPts val="1148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FFFFFF"/>
                </a:solidFill>
                <a:latin typeface="Source Sans 3"/>
              </a:rPr>
              <a:t>Be part of the soil-ution!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137" y="6515649"/>
            <a:ext cx="1755830" cy="58494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044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ontserrat"/>
              </a:rPr>
              <a:t>Join our free online</a:t>
            </a:r>
          </a:p>
          <a:p>
            <a:pPr algn="l">
              <a:lnSpc>
                <a:spcPts val="1044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ontserrat"/>
              </a:rPr>
              <a:t>community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137" y="6808554"/>
            <a:ext cx="1755830" cy="80046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47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FFFFFF">
                    <a:alpha val="86000"/>
                  </a:srgbClr>
                </a:solidFill>
                <a:latin typeface="Source Sans 3"/>
              </a:rPr>
              <a:t>Learn from and connect with other passionate</a:t>
            </a:r>
          </a:p>
          <a:p>
            <a:pPr algn="l">
              <a:lnSpc>
                <a:spcPts val="947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FFFFFF">
                    <a:alpha val="86000"/>
                  </a:srgbClr>
                </a:solidFill>
                <a:latin typeface="Source Sans 3"/>
              </a:rPr>
              <a:t>people in the regenerative agriculture space.</a:t>
            </a:r>
          </a:p>
          <a:p>
            <a:pPr algn="l">
              <a:lnSpc>
                <a:spcPts val="947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FFFFFF">
                    <a:alpha val="86000"/>
                  </a:srgbClr>
                </a:solidFill>
                <a:latin typeface="Source Sans 3"/>
              </a:rPr>
              <a:t>You can also register for our newsletter and</a:t>
            </a:r>
          </a:p>
          <a:p>
            <a:pPr algn="l">
              <a:lnSpc>
                <a:spcPts val="947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FFFFFF">
                    <a:alpha val="86000"/>
                  </a:srgbClr>
                </a:solidFill>
                <a:latin typeface="Source Sans 3"/>
              </a:rPr>
              <a:t>webinar series via the link in this QR code.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137" y="7317221"/>
            <a:ext cx="1755830" cy="44256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66"/>
              </a:lnSpc>
              <a:spcBef>
                <a:spcPts val="0"/>
              </a:spcBef>
              <a:spcAft>
                <a:spcPts val="0"/>
              </a:spcAft>
            </a:pPr>
            <a:r>
              <a:rPr sz="699" b="0" i="1">
                <a:solidFill>
                  <a:srgbClr val="FFFFFF">
                    <a:alpha val="70000"/>
                  </a:srgbClr>
                </a:solidFill>
                <a:latin typeface="Source Sans 3"/>
              </a:rPr>
              <a:t>sfw.one/brochure-webinar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4940" y="244669"/>
            <a:ext cx="2917027" cy="43214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883"/>
              </a:lnSpc>
              <a:spcBef>
                <a:spcPts val="0"/>
              </a:spcBef>
              <a:spcAft>
                <a:spcPts val="0"/>
              </a:spcAft>
            </a:pPr>
            <a:r>
              <a:rPr sz="639" b="1" i="0" spc="96">
                <a:solidFill>
                  <a:srgbClr val="FFFFFF">
                    <a:alpha val="86000"/>
                  </a:srgbClr>
                </a:solidFill>
                <a:latin typeface="Montserrat"/>
              </a:rPr>
              <a:t>RESEARCH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4940" y="417932"/>
            <a:ext cx="2917027" cy="69329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47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8">
                <a:solidFill>
                  <a:srgbClr val="FFFFFF"/>
                </a:solidFill>
                <a:latin typeface="Montserrat"/>
              </a:rPr>
              <a:t>The science is open,</a:t>
            </a:r>
          </a:p>
          <a:p>
            <a:pPr algn="l">
              <a:lnSpc>
                <a:spcPts val="147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8">
                <a:solidFill>
                  <a:srgbClr val="FFFFFF"/>
                </a:solidFill>
                <a:latin typeface="Montserrat"/>
              </a:rPr>
              <a:t>and anyone can test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4940" y="2014116"/>
            <a:ext cx="2917027" cy="42720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844"/>
              </a:lnSpc>
              <a:spcBef>
                <a:spcPts val="0"/>
              </a:spcBef>
              <a:spcAft>
                <a:spcPts val="0"/>
              </a:spcAft>
            </a:pPr>
            <a:r>
              <a:rPr sz="669" b="0" i="1">
                <a:solidFill>
                  <a:srgbClr val="6A665C"/>
                </a:solidFill>
                <a:latin typeface="Source Sans 3"/>
              </a:rPr>
              <a:t>Soil samples beside the microscope.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4940" y="2318034"/>
            <a:ext cx="2917027" cy="5759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008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4F3433"/>
                </a:solidFill>
                <a:latin typeface="Montserrat"/>
              </a:rPr>
              <a:t>What biologically complete, properly-structured soil</a:t>
            </a:r>
          </a:p>
          <a:p>
            <a:pPr algn="l">
              <a:lnSpc>
                <a:spcPts val="1008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4F3433"/>
                </a:solidFill>
                <a:latin typeface="Montserrat"/>
              </a:rPr>
              <a:t>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4940" y="3012514"/>
            <a:ext cx="660836" cy="50246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719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 spc="50">
                <a:solidFill>
                  <a:srgbClr val="4F3433"/>
                </a:solidFill>
                <a:latin typeface="Montserrat"/>
              </a:rPr>
              <a:t>NUTRIENT</a:t>
            </a:r>
          </a:p>
          <a:p>
            <a:pPr algn="ctr">
              <a:lnSpc>
                <a:spcPts val="719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 spc="50">
                <a:solidFill>
                  <a:srgbClr val="4F3433"/>
                </a:solidFill>
                <a:latin typeface="Montserrat"/>
              </a:rPr>
              <a:t>CYCLING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7126" y="3012514"/>
            <a:ext cx="660836" cy="59371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719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 spc="50">
                <a:solidFill>
                  <a:srgbClr val="4F3433"/>
                </a:solidFill>
                <a:latin typeface="Montserrat"/>
              </a:rPr>
              <a:t>CREATES</a:t>
            </a:r>
          </a:p>
          <a:p>
            <a:pPr algn="ctr">
              <a:lnSpc>
                <a:spcPts val="719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 spc="50">
                <a:solidFill>
                  <a:srgbClr val="4F3433"/>
                </a:solidFill>
                <a:latin typeface="Montserrat"/>
              </a:rPr>
              <a:t>SOIL</a:t>
            </a:r>
          </a:p>
          <a:p>
            <a:pPr algn="ctr">
              <a:lnSpc>
                <a:spcPts val="719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 spc="50">
                <a:solidFill>
                  <a:srgbClr val="4F3433"/>
                </a:solidFill>
                <a:latin typeface="Montserrat"/>
              </a:rPr>
              <a:t>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9311" y="3012514"/>
            <a:ext cx="660836" cy="59371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719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 spc="50">
                <a:solidFill>
                  <a:srgbClr val="4F3433"/>
                </a:solidFill>
                <a:latin typeface="Montserrat"/>
              </a:rPr>
              <a:t>INHIBITS</a:t>
            </a:r>
          </a:p>
          <a:p>
            <a:pPr algn="ctr">
              <a:lnSpc>
                <a:spcPts val="719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 spc="50">
                <a:solidFill>
                  <a:srgbClr val="4F3433"/>
                </a:solidFill>
                <a:latin typeface="Montserrat"/>
              </a:rPr>
              <a:t>WEED</a:t>
            </a:r>
          </a:p>
          <a:p>
            <a:pPr algn="ctr">
              <a:lnSpc>
                <a:spcPts val="719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 spc="50">
                <a:solidFill>
                  <a:srgbClr val="4F3433"/>
                </a:solidFill>
                <a:latin typeface="Montserrat"/>
              </a:rPr>
              <a:t>PRESSURE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1496" y="3012514"/>
            <a:ext cx="660836" cy="59371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719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 spc="50">
                <a:solidFill>
                  <a:srgbClr val="4F3433"/>
                </a:solidFill>
                <a:latin typeface="Montserrat"/>
              </a:rPr>
              <a:t>REDUCES</a:t>
            </a:r>
          </a:p>
          <a:p>
            <a:pPr algn="ctr">
              <a:lnSpc>
                <a:spcPts val="719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 spc="50">
                <a:solidFill>
                  <a:srgbClr val="4F3433"/>
                </a:solidFill>
                <a:latin typeface="Montserrat"/>
              </a:rPr>
              <a:t>PESTS</a:t>
            </a:r>
          </a:p>
          <a:p>
            <a:pPr algn="ctr">
              <a:lnSpc>
                <a:spcPts val="719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 spc="50">
                <a:solidFill>
                  <a:srgbClr val="4F3433"/>
                </a:solidFill>
                <a:latin typeface="Montserrat"/>
              </a:rPr>
              <a:t>AND DISEASE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84940" y="4241412"/>
            <a:ext cx="2917027" cy="64154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844"/>
              </a:lnSpc>
              <a:spcBef>
                <a:spcPts val="0"/>
              </a:spcBef>
              <a:spcAft>
                <a:spcPts val="0"/>
              </a:spcAft>
            </a:pPr>
            <a:r>
              <a:rPr sz="669" b="0" i="1">
                <a:solidFill>
                  <a:srgbClr val="6A665C"/>
                </a:solidFill>
                <a:latin typeface="Source Sans 3"/>
              </a:rPr>
              <a:t>Testate amoeba, 40x objective. Photograph: Joy Kaluf. A microbial count names</a:t>
            </a:r>
          </a:p>
          <a:p>
            <a:pPr algn="l">
              <a:lnSpc>
                <a:spcPts val="844"/>
              </a:lnSpc>
              <a:spcBef>
                <a:spcPts val="0"/>
              </a:spcBef>
              <a:spcAft>
                <a:spcPts val="0"/>
              </a:spcAft>
            </a:pPr>
            <a:r>
              <a:rPr sz="669" b="0" i="1">
                <a:solidFill>
                  <a:srgbClr val="6A665C"/>
                </a:solidFill>
                <a:latin typeface="Source Sans 3"/>
              </a:rPr>
              <a:t>what is present in the sample and their relative numbers: bacteria, fungi,</a:t>
            </a:r>
          </a:p>
          <a:p>
            <a:pPr algn="l">
              <a:lnSpc>
                <a:spcPts val="844"/>
              </a:lnSpc>
              <a:spcBef>
                <a:spcPts val="0"/>
              </a:spcBef>
              <a:spcAft>
                <a:spcPts val="0"/>
              </a:spcAft>
            </a:pPr>
            <a:r>
              <a:rPr sz="669" b="0" i="1">
                <a:solidFill>
                  <a:srgbClr val="6A665C"/>
                </a:solidFill>
                <a:latin typeface="Source Sans 3"/>
              </a:rPr>
              <a:t>protozoa, nematodes and microarthropods.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4940" y="4704801"/>
            <a:ext cx="2917027" cy="5759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008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4F3433"/>
                </a:solidFill>
                <a:latin typeface="Montserrat"/>
              </a:rPr>
              <a:t>What we test before we recommend remediation</a:t>
            </a:r>
          </a:p>
          <a:p>
            <a:pPr algn="l">
              <a:lnSpc>
                <a:spcPts val="1008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4F3433"/>
                </a:solidFill>
                <a:latin typeface="Montserrat"/>
              </a:rPr>
              <a:t>plans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18021" y="4986459"/>
            <a:ext cx="2683946" cy="59865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077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4F3433"/>
                </a:solidFill>
                <a:latin typeface="Source Sans 3"/>
              </a:rPr>
              <a:t>Diagnostic first.</a:t>
            </a:r>
            <a:r>
              <a:rPr sz="810" b="0" i="0">
                <a:solidFill>
                  <a:srgbClr val="333130"/>
                </a:solidFill>
                <a:latin typeface="Source Sans 3"/>
              </a:rPr>
              <a:t> Every recommendation starts with a</a:t>
            </a:r>
          </a:p>
          <a:p>
            <a:pPr algn="l">
              <a:lnSpc>
                <a:spcPts val="1077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333130"/>
                </a:solidFill>
                <a:latin typeface="Source Sans 3"/>
              </a:rPr>
              <a:t>biological analysis under a microscope.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8021" y="5292509"/>
            <a:ext cx="2683946" cy="59865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077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4F3433"/>
                </a:solidFill>
                <a:latin typeface="Source Sans 3"/>
              </a:rPr>
              <a:t>Measurable.</a:t>
            </a:r>
            <a:r>
              <a:rPr sz="810" b="0" i="0">
                <a:solidFill>
                  <a:srgbClr val="333130"/>
                </a:solidFill>
                <a:latin typeface="Source Sans 3"/>
              </a:rPr>
              <a:t> We provide a relative count of various microbes</a:t>
            </a:r>
          </a:p>
          <a:p>
            <a:pPr algn="l">
              <a:lnSpc>
                <a:spcPts val="1077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333130"/>
                </a:solidFill>
                <a:latin typeface="Source Sans 3"/>
              </a:rPr>
              <a:t>present in your soil or compost sample.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18021" y="5598467"/>
            <a:ext cx="2683946" cy="73545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077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4F3433"/>
                </a:solidFill>
                <a:latin typeface="Source Sans 3"/>
              </a:rPr>
              <a:t>Adaptation and retrofitting.</a:t>
            </a:r>
            <a:r>
              <a:rPr sz="810" b="0" i="0">
                <a:solidFill>
                  <a:srgbClr val="333130"/>
                </a:solidFill>
                <a:latin typeface="Source Sans 3"/>
              </a:rPr>
              <a:t> We help you convert your</a:t>
            </a:r>
          </a:p>
          <a:p>
            <a:pPr algn="l">
              <a:lnSpc>
                <a:spcPts val="1077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333130"/>
                </a:solidFill>
                <a:latin typeface="Source Sans 3"/>
              </a:rPr>
              <a:t>current operations to the soil food web approach, at any</a:t>
            </a:r>
          </a:p>
          <a:p>
            <a:pPr algn="l">
              <a:lnSpc>
                <a:spcPts val="1077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333130"/>
                </a:solidFill>
                <a:latin typeface="Source Sans 3"/>
              </a:rPr>
              <a:t>scale.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22832" y="6265636"/>
            <a:ext cx="2660446" cy="119429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48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333130"/>
                </a:solidFill>
                <a:latin typeface="Source Sans 3"/>
              </a:rPr>
              <a:t>We train people who help farmers to transition away from</a:t>
            </a:r>
          </a:p>
          <a:p>
            <a:pPr algn="l">
              <a:lnSpc>
                <a:spcPts val="1148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333130"/>
                </a:solidFill>
                <a:latin typeface="Source Sans 3"/>
              </a:rPr>
              <a:t>using chemicals, to using biology. This results in</a:t>
            </a:r>
          </a:p>
          <a:p>
            <a:pPr algn="l">
              <a:lnSpc>
                <a:spcPts val="1148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333130"/>
                </a:solidFill>
                <a:latin typeface="Source Sans 3"/>
              </a:rPr>
              <a:t>significant benefits to the farmer and to the environment,</a:t>
            </a:r>
          </a:p>
          <a:p>
            <a:pPr algn="l">
              <a:lnSpc>
                <a:spcPts val="1148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333130"/>
                </a:solidFill>
                <a:latin typeface="Source Sans 3"/>
              </a:rPr>
              <a:t>as well as to the consumer. The method has been proven</a:t>
            </a:r>
          </a:p>
          <a:p>
            <a:pPr algn="l">
              <a:lnSpc>
                <a:spcPts val="1148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333130"/>
                </a:solidFill>
                <a:latin typeface="Source Sans 3"/>
              </a:rPr>
              <a:t>effective on 6 continents and across all soil types, as</a:t>
            </a:r>
          </a:p>
          <a:p>
            <a:pPr algn="l">
              <a:lnSpc>
                <a:spcPts val="1148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333130"/>
                </a:solidFill>
                <a:latin typeface="Source Sans 3"/>
              </a:rPr>
              <a:t>evidenced by our ever-increasing case study library.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3940" y="-128589"/>
            <a:ext cx="2688427" cy="43214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883"/>
              </a:lnSpc>
              <a:spcBef>
                <a:spcPts val="0"/>
              </a:spcBef>
              <a:spcAft>
                <a:spcPts val="0"/>
              </a:spcAft>
            </a:pPr>
            <a:r>
              <a:rPr sz="639" b="1" i="0" spc="96">
                <a:solidFill>
                  <a:srgbClr val="FFFFFF">
                    <a:alpha val="86000"/>
                  </a:srgbClr>
                </a:solidFill>
                <a:latin typeface="Montserrat"/>
              </a:rPr>
              <a:t>PRACTICE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3940" y="44674"/>
            <a:ext cx="2688427" cy="10665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47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8">
                <a:solidFill>
                  <a:srgbClr val="FFFFFF"/>
                </a:solidFill>
                <a:latin typeface="Montserrat"/>
              </a:rPr>
              <a:t>Growers are already</a:t>
            </a:r>
          </a:p>
          <a:p>
            <a:pPr algn="l">
              <a:lnSpc>
                <a:spcPts val="147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8">
                <a:solidFill>
                  <a:srgbClr val="FFFFFF"/>
                </a:solidFill>
                <a:latin typeface="Montserrat"/>
              </a:rPr>
              <a:t>implementing the soil</a:t>
            </a:r>
          </a:p>
          <a:p>
            <a:pPr algn="l">
              <a:lnSpc>
                <a:spcPts val="147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8">
                <a:solidFill>
                  <a:srgbClr val="FFFFFF"/>
                </a:solidFill>
                <a:latin typeface="Montserrat"/>
              </a:rPr>
              <a:t>food web approach,</a:t>
            </a:r>
          </a:p>
          <a:p>
            <a:pPr algn="l">
              <a:lnSpc>
                <a:spcPts val="147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8">
                <a:solidFill>
                  <a:srgbClr val="FFFFFF"/>
                </a:solidFill>
                <a:latin typeface="Montserrat"/>
              </a:rPr>
              <a:t>at every scale.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3940" y="2014116"/>
            <a:ext cx="2706715" cy="42720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844"/>
              </a:lnSpc>
              <a:spcBef>
                <a:spcPts val="0"/>
              </a:spcBef>
              <a:spcAft>
                <a:spcPts val="0"/>
              </a:spcAft>
            </a:pPr>
            <a:r>
              <a:rPr sz="669" b="0" i="1">
                <a:solidFill>
                  <a:srgbClr val="6A665C"/>
                </a:solidFill>
                <a:latin typeface="Source Sans 3"/>
              </a:rPr>
              <a:t>Agroecology plots at Rancho Cacachilas.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3940" y="2310033"/>
            <a:ext cx="2688427" cy="128976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274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333130"/>
                </a:solidFill>
                <a:latin typeface="Source Sans 3"/>
              </a:rPr>
              <a:t>The basic methodology is universal; the application</a:t>
            </a:r>
          </a:p>
          <a:p>
            <a:pPr algn="l">
              <a:lnSpc>
                <a:spcPts val="1274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333130"/>
                </a:solidFill>
                <a:latin typeface="Source Sans 3"/>
              </a:rPr>
              <a:t>is based upon locally-sourced materials. Our case</a:t>
            </a:r>
          </a:p>
          <a:p>
            <a:pPr algn="l">
              <a:lnSpc>
                <a:spcPts val="1274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333130"/>
                </a:solidFill>
                <a:latin typeface="Source Sans 3"/>
              </a:rPr>
              <a:t>studies and field trials demonstrate the efficacy</a:t>
            </a:r>
          </a:p>
          <a:p>
            <a:pPr algn="l">
              <a:lnSpc>
                <a:spcPts val="1274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333130"/>
                </a:solidFill>
                <a:latin typeface="Source Sans 3"/>
              </a:rPr>
              <a:t>across a range of soil types at every scale from</a:t>
            </a:r>
          </a:p>
          <a:p>
            <a:pPr algn="l">
              <a:lnSpc>
                <a:spcPts val="1274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333130"/>
                </a:solidFill>
                <a:latin typeface="Source Sans 3"/>
              </a:rPr>
              <a:t>market gardens to massive industrial farming</a:t>
            </a:r>
          </a:p>
          <a:p>
            <a:pPr algn="l">
              <a:lnSpc>
                <a:spcPts val="1274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333130"/>
                </a:solidFill>
                <a:latin typeface="Source Sans 3"/>
              </a:rPr>
              <a:t>operations.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3940" y="3332999"/>
            <a:ext cx="2688427" cy="135038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333130"/>
                </a:solidFill>
                <a:latin typeface="Source Sans 3"/>
              </a:rPr>
              <a:t>Nick Padwick farms four thousand acres in Norfolk,</a:t>
            </a:r>
          </a:p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333130"/>
                </a:solidFill>
                <a:latin typeface="Source Sans 3"/>
              </a:rPr>
              <a:t>England. Roberto Silva works a hundred and forty in Piura,</a:t>
            </a:r>
          </a:p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333130"/>
                </a:solidFill>
                <a:latin typeface="Source Sans 3"/>
              </a:rPr>
              <a:t>Peru. Jenn Sirp grows on a quarter acre in California. Check</a:t>
            </a:r>
          </a:p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333130"/>
                </a:solidFill>
                <a:latin typeface="Source Sans 3"/>
              </a:rPr>
              <a:t>out their individual accounts of how the soil food web</a:t>
            </a:r>
          </a:p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333130"/>
                </a:solidFill>
                <a:latin typeface="Source Sans 3"/>
              </a:rPr>
              <a:t>approach changed their operations through reducing</a:t>
            </a:r>
          </a:p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333130"/>
                </a:solidFill>
                <a:latin typeface="Source Sans 3"/>
              </a:rPr>
              <a:t>inputs, creating better outputs and improving their bottom</a:t>
            </a:r>
          </a:p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333130"/>
                </a:solidFill>
                <a:latin typeface="Source Sans 3"/>
              </a:rPr>
              <a:t>lines.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3940" y="4418026"/>
            <a:ext cx="2688427" cy="120316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333130"/>
                </a:solidFill>
                <a:latin typeface="Source Sans 3"/>
              </a:rPr>
              <a:t>Though the projects run from backyard gardens to</a:t>
            </a:r>
          </a:p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333130"/>
                </a:solidFill>
                <a:latin typeface="Source Sans 3"/>
              </a:rPr>
              <a:t>expansive public parks, the same process is applicable. The</a:t>
            </a:r>
          </a:p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333130"/>
                </a:solidFill>
                <a:latin typeface="Source Sans 3"/>
              </a:rPr>
              <a:t>steps are the same at every scale: look at the biology under</a:t>
            </a:r>
          </a:p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333130"/>
                </a:solidFill>
                <a:latin typeface="Source Sans 3"/>
              </a:rPr>
              <a:t>a microscope, add what is missing to rebalance the</a:t>
            </a:r>
          </a:p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333130"/>
                </a:solidFill>
                <a:latin typeface="Source Sans 3"/>
              </a:rPr>
              <a:t>microbial content, then measure again to confirm microbial</a:t>
            </a:r>
          </a:p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333130"/>
                </a:solidFill>
                <a:latin typeface="Source Sans 3"/>
              </a:rPr>
              <a:t>counts are going in the expected directions.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13940" y="5356018"/>
            <a:ext cx="2688427" cy="90882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333130"/>
                </a:solidFill>
                <a:latin typeface="Source Sans 3"/>
              </a:rPr>
              <a:t>We partner with growers to teach them microscopy and</a:t>
            </a:r>
          </a:p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333130"/>
                </a:solidFill>
                <a:latin typeface="Source Sans 3"/>
              </a:rPr>
              <a:t>biological compost creation and application so they can</a:t>
            </a:r>
          </a:p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333130"/>
                </a:solidFill>
                <a:latin typeface="Source Sans 3"/>
              </a:rPr>
              <a:t>implement the approach where they farm, and document</a:t>
            </a:r>
          </a:p>
          <a:p>
            <a:pPr algn="l">
              <a:lnSpc>
                <a:spcPts val="1159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333130"/>
                </a:solidFill>
                <a:latin typeface="Source Sans 3"/>
              </a:rPr>
              <a:t>the impacts.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137" y="6641836"/>
            <a:ext cx="1527230" cy="4525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044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F3433"/>
                </a:solidFill>
                <a:latin typeface="Montserrat"/>
              </a:rPr>
              <a:t>Watch the case studies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137" y="6802336"/>
            <a:ext cx="1527230" cy="68031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47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4A463F"/>
                </a:solidFill>
                <a:latin typeface="Source Sans 3"/>
              </a:rPr>
              <a:t>Growers filming their own soil, crop by</a:t>
            </a:r>
          </a:p>
          <a:p>
            <a:pPr algn="l">
              <a:lnSpc>
                <a:spcPts val="947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4A463F"/>
                </a:solidFill>
                <a:latin typeface="Source Sans 3"/>
              </a:rPr>
              <a:t>crop and climate by climate. Start with</a:t>
            </a:r>
          </a:p>
          <a:p>
            <a:pPr algn="l">
              <a:lnSpc>
                <a:spcPts val="947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4A463F"/>
                </a:solidFill>
                <a:latin typeface="Source Sans 3"/>
              </a:rPr>
              <a:t>one that looks like yours.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137" y="7190851"/>
            <a:ext cx="1527230" cy="44256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66"/>
              </a:lnSpc>
              <a:spcBef>
                <a:spcPts val="0"/>
              </a:spcBef>
              <a:spcAft>
                <a:spcPts val="0"/>
              </a:spcAft>
            </a:pPr>
            <a:r>
              <a:rPr sz="699" b="0" i="1">
                <a:solidFill>
                  <a:srgbClr val="6A665C"/>
                </a:solidFill>
                <a:latin typeface="Source Sans 3"/>
              </a:rPr>
              <a:t>sfw.one/brochure-casestudies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