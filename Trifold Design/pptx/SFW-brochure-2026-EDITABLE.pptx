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0287000" cy="8001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outside.png"/>
          <p:cNvPicPr>
            <a:picLocks noChangeAspect="1"/>
          </p:cNvPicPr>
          <p:nvPr/>
        </p:nvPicPr>
        <p:blipFill>
          <a:blip r:embed="rId2"/>
          <a:stretch>
            <a:fillRect/>
          </a:stretch>
        </p:blipFill>
        <p:spPr>
          <a:xfrm>
            <a:off x="0" y="0"/>
            <a:ext cx="10287000" cy="8001000"/>
          </a:xfrm>
          <a:prstGeom prst="rect">
            <a:avLst/>
          </a:prstGeom>
        </p:spPr>
      </p:pic>
      <p:sp>
        <p:nvSpPr>
          <p:cNvPr id="3" name="TextBox 2"/>
          <p:cNvSpPr txBox="1"/>
          <p:nvPr/>
        </p:nvSpPr>
        <p:spPr>
          <a:xfrm>
            <a:off x="370240" y="358969"/>
            <a:ext cx="2688427" cy="432145"/>
          </a:xfrm>
          <a:prstGeom prst="rect">
            <a:avLst/>
          </a:prstGeom>
          <a:noFill/>
        </p:spPr>
        <p:txBody>
          <a:bodyPr wrap="square" lIns="0" rIns="0" tIns="0" bIns="0" anchor="t"/>
          <a:lstStyle/>
          <a:p>
            <a:pPr algn="l">
              <a:lnSpc>
                <a:spcPts val="883"/>
              </a:lnSpc>
              <a:spcBef>
                <a:spcPts val="0"/>
              </a:spcBef>
              <a:spcAft>
                <a:spcPts val="0"/>
              </a:spcAft>
            </a:pPr>
            <a:r>
              <a:rPr sz="639" b="1" i="0" spc="96">
                <a:solidFill>
                  <a:srgbClr val="FFFFFF">
                    <a:alpha val="86000"/>
                  </a:srgbClr>
                </a:solidFill>
                <a:latin typeface="Montserrat"/>
              </a:rPr>
              <a:t>TEACHING</a:t>
            </a:r>
          </a:p>
        </p:txBody>
      </p:sp>
      <p:sp>
        <p:nvSpPr>
          <p:cNvPr id="4" name="TextBox 3"/>
          <p:cNvSpPr txBox="1"/>
          <p:nvPr/>
        </p:nvSpPr>
        <p:spPr>
          <a:xfrm>
            <a:off x="370240" y="532232"/>
            <a:ext cx="2688427" cy="693298"/>
          </a:xfrm>
          <a:prstGeom prst="rect">
            <a:avLst/>
          </a:prstGeom>
          <a:noFill/>
        </p:spPr>
        <p:txBody>
          <a:bodyPr wrap="square" lIns="0" rIns="0" tIns="0" bIns="0" anchor="t"/>
          <a:lstStyle/>
          <a:p>
            <a:pPr algn="l">
              <a:lnSpc>
                <a:spcPts val="1470"/>
              </a:lnSpc>
              <a:spcBef>
                <a:spcPts val="0"/>
              </a:spcBef>
              <a:spcAft>
                <a:spcPts val="0"/>
              </a:spcAft>
            </a:pPr>
            <a:r>
              <a:rPr sz="1400" b="1" i="0" spc="-8">
                <a:solidFill>
                  <a:srgbClr val="FFFFFF"/>
                </a:solidFill>
                <a:latin typeface="Montserrat"/>
              </a:rPr>
              <a:t>Anyone, anywhere, can learn to restore living soil.</a:t>
            </a:r>
          </a:p>
        </p:txBody>
      </p:sp>
      <p:sp>
        <p:nvSpPr>
          <p:cNvPr id="5" name="TextBox 4"/>
          <p:cNvSpPr txBox="1"/>
          <p:nvPr/>
        </p:nvSpPr>
        <p:spPr>
          <a:xfrm>
            <a:off x="351952" y="2128416"/>
            <a:ext cx="2706715" cy="427207"/>
          </a:xfrm>
          <a:prstGeom prst="rect">
            <a:avLst/>
          </a:prstGeom>
          <a:noFill/>
        </p:spPr>
        <p:txBody>
          <a:bodyPr wrap="square" lIns="0" rIns="0" tIns="0" bIns="0" anchor="t"/>
          <a:lstStyle/>
          <a:p>
            <a:pPr algn="l">
              <a:lnSpc>
                <a:spcPts val="844"/>
              </a:lnSpc>
              <a:spcBef>
                <a:spcPts val="0"/>
              </a:spcBef>
              <a:spcAft>
                <a:spcPts val="0"/>
              </a:spcAft>
            </a:pPr>
            <a:r>
              <a:rPr sz="669" b="0" i="1">
                <a:solidFill>
                  <a:srgbClr val="FFFFFF">
                    <a:alpha val="70000"/>
                  </a:srgbClr>
                </a:solidFill>
                <a:latin typeface="Source Sans 3"/>
              </a:rPr>
              <a:t>A mentor teaching on working land.</a:t>
            </a:r>
          </a:p>
        </p:txBody>
      </p:sp>
      <p:sp>
        <p:nvSpPr>
          <p:cNvPr id="6" name="TextBox 5"/>
          <p:cNvSpPr txBox="1"/>
          <p:nvPr/>
        </p:nvSpPr>
        <p:spPr>
          <a:xfrm>
            <a:off x="370240" y="2424333"/>
            <a:ext cx="2688427" cy="1128186"/>
          </a:xfrm>
          <a:prstGeom prst="rect">
            <a:avLst/>
          </a:prstGeom>
          <a:noFill/>
        </p:spPr>
        <p:txBody>
          <a:bodyPr wrap="square" lIns="0" rIns="0" tIns="0" bIns="0" anchor="t"/>
          <a:lstStyle/>
          <a:p>
            <a:pPr algn="l">
              <a:lnSpc>
                <a:spcPts val="1274"/>
              </a:lnSpc>
              <a:spcBef>
                <a:spcPts val="0"/>
              </a:spcBef>
              <a:spcAft>
                <a:spcPts val="0"/>
              </a:spcAft>
            </a:pPr>
            <a:r>
              <a:rPr sz="980" b="0" i="0">
                <a:solidFill>
                  <a:srgbClr val="FFFFFF"/>
                </a:solidFill>
                <a:latin typeface="Source Sans 3"/>
              </a:rPr>
              <a:t>From curiosity through to professional practice. Everyone starts with the Foundation Courses, and where you go next depends on whether you want to apply your skills to your own land or help others improve their soils.</a:t>
            </a:r>
          </a:p>
        </p:txBody>
      </p:sp>
      <p:sp>
        <p:nvSpPr>
          <p:cNvPr id="7" name="TextBox 6"/>
          <p:cNvSpPr txBox="1"/>
          <p:nvPr/>
        </p:nvSpPr>
        <p:spPr>
          <a:xfrm>
            <a:off x="612465" y="3318022"/>
            <a:ext cx="1104869" cy="448056"/>
          </a:xfrm>
          <a:prstGeom prst="rect">
            <a:avLst/>
          </a:prstGeom>
          <a:noFill/>
        </p:spPr>
        <p:txBody>
          <a:bodyPr wrap="square" lIns="0" rIns="0" tIns="0" bIns="0" anchor="t"/>
          <a:lstStyle/>
          <a:p>
            <a:pPr algn="l">
              <a:lnSpc>
                <a:spcPts val="1008"/>
              </a:lnSpc>
              <a:spcBef>
                <a:spcPts val="0"/>
              </a:spcBef>
              <a:spcAft>
                <a:spcPts val="0"/>
              </a:spcAft>
            </a:pPr>
            <a:r>
              <a:rPr sz="839" b="1" i="0">
                <a:solidFill>
                  <a:srgbClr val="FFFFFF"/>
                </a:solidFill>
                <a:latin typeface="Montserrat"/>
              </a:rPr>
              <a:t>Foundation Courses</a:t>
            </a:r>
          </a:p>
        </p:txBody>
      </p:sp>
      <p:sp>
        <p:nvSpPr>
          <p:cNvPr id="8" name="TextBox 7"/>
          <p:cNvSpPr txBox="1"/>
          <p:nvPr/>
        </p:nvSpPr>
        <p:spPr>
          <a:xfrm>
            <a:off x="370240" y="3496140"/>
            <a:ext cx="2688427" cy="988283"/>
          </a:xfrm>
          <a:prstGeom prst="rect">
            <a:avLst/>
          </a:prstGeom>
          <a:noFill/>
        </p:spPr>
        <p:txBody>
          <a:bodyPr wrap="square" lIns="0" rIns="0" tIns="0" bIns="0" anchor="t"/>
          <a:lstStyle/>
          <a:p>
            <a:pPr algn="l">
              <a:lnSpc>
                <a:spcPts val="1053"/>
              </a:lnSpc>
              <a:spcBef>
                <a:spcPts val="0"/>
              </a:spcBef>
              <a:spcAft>
                <a:spcPts val="0"/>
              </a:spcAft>
            </a:pPr>
            <a:r>
              <a:rPr sz="810" b="0" i="0">
                <a:solidFill>
                  <a:srgbClr val="FFFFFF"/>
                </a:solidFill>
                <a:latin typeface="Source Sans 3"/>
              </a:rPr>
              <a:t>You'll learn the science of the soil food web, the organisms and their roles, use of a microscope for biological analyses and how biological amendments are made and applied. They are online, self-paced, take about 150 hours to complete, and are a prerequisite to any Advanced Program.</a:t>
            </a:r>
          </a:p>
        </p:txBody>
      </p:sp>
      <p:sp>
        <p:nvSpPr>
          <p:cNvPr id="9" name="TextBox 8"/>
          <p:cNvSpPr txBox="1"/>
          <p:nvPr/>
        </p:nvSpPr>
        <p:spPr>
          <a:xfrm>
            <a:off x="612465" y="4310969"/>
            <a:ext cx="1133490" cy="448056"/>
          </a:xfrm>
          <a:prstGeom prst="rect">
            <a:avLst/>
          </a:prstGeom>
          <a:noFill/>
        </p:spPr>
        <p:txBody>
          <a:bodyPr wrap="square" lIns="0" rIns="0" tIns="0" bIns="0" anchor="t"/>
          <a:lstStyle/>
          <a:p>
            <a:pPr algn="l">
              <a:lnSpc>
                <a:spcPts val="1008"/>
              </a:lnSpc>
              <a:spcBef>
                <a:spcPts val="0"/>
              </a:spcBef>
              <a:spcAft>
                <a:spcPts val="0"/>
              </a:spcAft>
            </a:pPr>
            <a:r>
              <a:rPr sz="839" b="1" i="0">
                <a:solidFill>
                  <a:srgbClr val="FFFFFF"/>
                </a:solidFill>
                <a:latin typeface="Montserrat"/>
              </a:rPr>
              <a:t>Advanced Programs</a:t>
            </a:r>
          </a:p>
        </p:txBody>
      </p:sp>
      <p:sp>
        <p:nvSpPr>
          <p:cNvPr id="10" name="TextBox 9"/>
          <p:cNvSpPr txBox="1"/>
          <p:nvPr/>
        </p:nvSpPr>
        <p:spPr>
          <a:xfrm>
            <a:off x="370240" y="4489178"/>
            <a:ext cx="2688427" cy="854598"/>
          </a:xfrm>
          <a:prstGeom prst="rect">
            <a:avLst/>
          </a:prstGeom>
          <a:noFill/>
        </p:spPr>
        <p:txBody>
          <a:bodyPr wrap="square" lIns="0" rIns="0" tIns="0" bIns="0" anchor="t"/>
          <a:lstStyle/>
          <a:p>
            <a:pPr algn="l">
              <a:lnSpc>
                <a:spcPts val="1053"/>
              </a:lnSpc>
              <a:spcBef>
                <a:spcPts val="0"/>
              </a:spcBef>
              <a:spcAft>
                <a:spcPts val="0"/>
              </a:spcAft>
            </a:pPr>
            <a:r>
              <a:rPr sz="810" b="0" i="0">
                <a:solidFill>
                  <a:srgbClr val="FFFFFF"/>
                </a:solidFill>
                <a:latin typeface="Source Sans 3"/>
              </a:rPr>
              <a:t>Learn the practical application of the theory you learned in the Foundation Courses through mentor-led Advanced Programs on Soil Microscopy, BioComplete™ Compost Production, Biological Liquid Amendments and Field Trial.</a:t>
            </a:r>
          </a:p>
        </p:txBody>
      </p:sp>
      <p:sp>
        <p:nvSpPr>
          <p:cNvPr id="11" name="TextBox 10"/>
          <p:cNvSpPr txBox="1"/>
          <p:nvPr/>
        </p:nvSpPr>
        <p:spPr>
          <a:xfrm>
            <a:off x="612465" y="5170322"/>
            <a:ext cx="1285920" cy="448056"/>
          </a:xfrm>
          <a:prstGeom prst="rect">
            <a:avLst/>
          </a:prstGeom>
          <a:noFill/>
        </p:spPr>
        <p:txBody>
          <a:bodyPr wrap="square" lIns="0" rIns="0" tIns="0" bIns="0" anchor="t"/>
          <a:lstStyle/>
          <a:p>
            <a:pPr algn="l">
              <a:lnSpc>
                <a:spcPts val="1008"/>
              </a:lnSpc>
              <a:spcBef>
                <a:spcPts val="0"/>
              </a:spcBef>
              <a:spcAft>
                <a:spcPts val="0"/>
              </a:spcAft>
            </a:pPr>
            <a:r>
              <a:rPr sz="839" b="1" i="0">
                <a:solidFill>
                  <a:srgbClr val="FFFFFF"/>
                </a:solidFill>
                <a:latin typeface="Montserrat"/>
              </a:rPr>
              <a:t>Accelerator Workshops</a:t>
            </a:r>
          </a:p>
        </p:txBody>
      </p:sp>
      <p:sp>
        <p:nvSpPr>
          <p:cNvPr id="12" name="TextBox 11"/>
          <p:cNvSpPr txBox="1"/>
          <p:nvPr/>
        </p:nvSpPr>
        <p:spPr>
          <a:xfrm>
            <a:off x="370240" y="5348440"/>
            <a:ext cx="2688427" cy="721004"/>
          </a:xfrm>
          <a:prstGeom prst="rect">
            <a:avLst/>
          </a:prstGeom>
          <a:noFill/>
        </p:spPr>
        <p:txBody>
          <a:bodyPr wrap="square" lIns="0" rIns="0" tIns="0" bIns="0" anchor="t"/>
          <a:lstStyle/>
          <a:p>
            <a:pPr algn="l">
              <a:lnSpc>
                <a:spcPts val="1053"/>
              </a:lnSpc>
              <a:spcBef>
                <a:spcPts val="0"/>
              </a:spcBef>
              <a:spcAft>
                <a:spcPts val="0"/>
              </a:spcAft>
            </a:pPr>
            <a:r>
              <a:rPr sz="810" b="0" i="0">
                <a:solidFill>
                  <a:srgbClr val="FFFFFF"/>
                </a:solidFill>
                <a:latin typeface="Source Sans 3"/>
              </a:rPr>
              <a:t>The Advanced Programs as a group on working land, the whole method at once. Held periodically with a host partner. Dates on the school site.</a:t>
            </a:r>
          </a:p>
        </p:txBody>
      </p:sp>
      <p:sp>
        <p:nvSpPr>
          <p:cNvPr id="13" name="TextBox 12"/>
          <p:cNvSpPr txBox="1"/>
          <p:nvPr/>
        </p:nvSpPr>
        <p:spPr>
          <a:xfrm>
            <a:off x="612465" y="5895990"/>
            <a:ext cx="809609" cy="448056"/>
          </a:xfrm>
          <a:prstGeom prst="rect">
            <a:avLst/>
          </a:prstGeom>
          <a:noFill/>
        </p:spPr>
        <p:txBody>
          <a:bodyPr wrap="square" lIns="0" rIns="0" tIns="0" bIns="0" anchor="t"/>
          <a:lstStyle/>
          <a:p>
            <a:pPr algn="l">
              <a:lnSpc>
                <a:spcPts val="1008"/>
              </a:lnSpc>
              <a:spcBef>
                <a:spcPts val="0"/>
              </a:spcBef>
              <a:spcAft>
                <a:spcPts val="0"/>
              </a:spcAft>
            </a:pPr>
            <a:r>
              <a:rPr sz="839" b="1" i="0">
                <a:solidFill>
                  <a:srgbClr val="FFFFFF"/>
                </a:solidFill>
                <a:latin typeface="Montserrat"/>
              </a:rPr>
              <a:t>Where it leads</a:t>
            </a:r>
          </a:p>
        </p:txBody>
      </p:sp>
      <p:sp>
        <p:nvSpPr>
          <p:cNvPr id="14" name="TextBox 13"/>
          <p:cNvSpPr txBox="1"/>
          <p:nvPr/>
        </p:nvSpPr>
        <p:spPr>
          <a:xfrm>
            <a:off x="370240" y="6074199"/>
            <a:ext cx="2688427" cy="721004"/>
          </a:xfrm>
          <a:prstGeom prst="rect">
            <a:avLst/>
          </a:prstGeom>
          <a:noFill/>
        </p:spPr>
        <p:txBody>
          <a:bodyPr wrap="square" lIns="0" rIns="0" tIns="0" bIns="0" anchor="t"/>
          <a:lstStyle/>
          <a:p>
            <a:pPr algn="l">
              <a:lnSpc>
                <a:spcPts val="1053"/>
              </a:lnSpc>
              <a:spcBef>
                <a:spcPts val="0"/>
              </a:spcBef>
              <a:spcAft>
                <a:spcPts val="0"/>
              </a:spcAft>
            </a:pPr>
            <a:r>
              <a:rPr sz="810" b="0" i="0">
                <a:solidFill>
                  <a:srgbClr val="FFFFFF"/>
                </a:solidFill>
                <a:latin typeface="Source Sans 3"/>
              </a:rPr>
              <a:t>All four Advanced Programs carry the Soil Food Web Consultant title; Soil Microscopy alone, the Lab Technician title. Prices at </a:t>
            </a:r>
            <a:r>
              <a:rPr sz="710" b="0" i="0">
                <a:solidFill>
                  <a:srgbClr val="FFFFFF"/>
                </a:solidFill>
                <a:latin typeface="Source Sans 3"/>
              </a:rPr>
              <a:t>school.soilfoodweb.com</a:t>
            </a:r>
          </a:p>
        </p:txBody>
      </p:sp>
      <p:sp>
        <p:nvSpPr>
          <p:cNvPr id="15" name="TextBox 14"/>
          <p:cNvSpPr txBox="1"/>
          <p:nvPr/>
        </p:nvSpPr>
        <p:spPr>
          <a:xfrm>
            <a:off x="1531437" y="6816303"/>
            <a:ext cx="1527230" cy="452536"/>
          </a:xfrm>
          <a:prstGeom prst="rect">
            <a:avLst/>
          </a:prstGeom>
          <a:noFill/>
        </p:spPr>
        <p:txBody>
          <a:bodyPr wrap="square" lIns="0" rIns="0" tIns="0" bIns="0" anchor="t"/>
          <a:lstStyle/>
          <a:p>
            <a:pPr algn="l">
              <a:lnSpc>
                <a:spcPts val="1044"/>
              </a:lnSpc>
              <a:spcBef>
                <a:spcPts val="0"/>
              </a:spcBef>
              <a:spcAft>
                <a:spcPts val="0"/>
              </a:spcAft>
            </a:pPr>
            <a:r>
              <a:rPr sz="900" b="1" i="0">
                <a:solidFill>
                  <a:srgbClr val="FFFFFF"/>
                </a:solidFill>
                <a:latin typeface="Montserrat"/>
              </a:rPr>
              <a:t>Apply for a scholarship</a:t>
            </a:r>
          </a:p>
        </p:txBody>
      </p:sp>
      <p:sp>
        <p:nvSpPr>
          <p:cNvPr id="16" name="TextBox 15"/>
          <p:cNvSpPr txBox="1"/>
          <p:nvPr/>
        </p:nvSpPr>
        <p:spPr>
          <a:xfrm>
            <a:off x="1531437" y="6976712"/>
            <a:ext cx="1527230" cy="560252"/>
          </a:xfrm>
          <a:prstGeom prst="rect">
            <a:avLst/>
          </a:prstGeom>
          <a:noFill/>
        </p:spPr>
        <p:txBody>
          <a:bodyPr wrap="square" lIns="0" rIns="0" tIns="0" bIns="0" anchor="t"/>
          <a:lstStyle/>
          <a:p>
            <a:pPr algn="l">
              <a:lnSpc>
                <a:spcPts val="947"/>
              </a:lnSpc>
              <a:spcBef>
                <a:spcPts val="0"/>
              </a:spcBef>
              <a:spcAft>
                <a:spcPts val="0"/>
              </a:spcAft>
            </a:pPr>
            <a:r>
              <a:rPr sz="740" b="0" i="0">
                <a:solidFill>
                  <a:srgbClr val="FFFFFF">
                    <a:alpha val="86000"/>
                  </a:srgbClr>
                </a:solidFill>
                <a:latin typeface="Source Sans 3"/>
              </a:rPr>
              <a:t>Scholarships prioritize applicants in under-resourced regions.</a:t>
            </a:r>
          </a:p>
        </p:txBody>
      </p:sp>
      <p:sp>
        <p:nvSpPr>
          <p:cNvPr id="17" name="TextBox 16"/>
          <p:cNvSpPr txBox="1"/>
          <p:nvPr/>
        </p:nvSpPr>
        <p:spPr>
          <a:xfrm>
            <a:off x="1531437" y="7245166"/>
            <a:ext cx="1527230" cy="442569"/>
          </a:xfrm>
          <a:prstGeom prst="rect">
            <a:avLst/>
          </a:prstGeom>
          <a:noFill/>
        </p:spPr>
        <p:txBody>
          <a:bodyPr wrap="square" lIns="0" rIns="0" tIns="0" bIns="0" anchor="t"/>
          <a:lstStyle/>
          <a:p>
            <a:pPr algn="l">
              <a:lnSpc>
                <a:spcPts val="966"/>
              </a:lnSpc>
              <a:spcBef>
                <a:spcPts val="0"/>
              </a:spcBef>
              <a:spcAft>
                <a:spcPts val="0"/>
              </a:spcAft>
            </a:pPr>
            <a:r>
              <a:rPr sz="699" b="0" i="1">
                <a:solidFill>
                  <a:srgbClr val="FFFFFF">
                    <a:alpha val="70000"/>
                  </a:srgbClr>
                </a:solidFill>
                <a:latin typeface="Source Sans 3"/>
              </a:rPr>
              <a:t>sfw.one/brochure-scholarship</a:t>
            </a:r>
          </a:p>
        </p:txBody>
      </p:sp>
      <p:sp>
        <p:nvSpPr>
          <p:cNvPr id="18" name="TextBox 17"/>
          <p:cNvSpPr txBox="1"/>
          <p:nvPr/>
        </p:nvSpPr>
        <p:spPr>
          <a:xfrm>
            <a:off x="3570640" y="358969"/>
            <a:ext cx="2917027" cy="432145"/>
          </a:xfrm>
          <a:prstGeom prst="rect">
            <a:avLst/>
          </a:prstGeom>
          <a:noFill/>
        </p:spPr>
        <p:txBody>
          <a:bodyPr wrap="square" lIns="0" rIns="0" tIns="0" bIns="0" anchor="t"/>
          <a:lstStyle/>
          <a:p>
            <a:pPr algn="l">
              <a:lnSpc>
                <a:spcPts val="883"/>
              </a:lnSpc>
              <a:spcBef>
                <a:spcPts val="0"/>
              </a:spcBef>
              <a:spcAft>
                <a:spcPts val="0"/>
              </a:spcAft>
            </a:pPr>
            <a:r>
              <a:rPr sz="639" b="1" i="0" spc="96">
                <a:solidFill>
                  <a:srgbClr val="FFFFFF">
                    <a:alpha val="86000"/>
                  </a:srgbClr>
                </a:solidFill>
                <a:latin typeface="Montserrat"/>
              </a:rPr>
              <a:t>COMMUNITY</a:t>
            </a:r>
          </a:p>
        </p:txBody>
      </p:sp>
      <p:sp>
        <p:nvSpPr>
          <p:cNvPr id="19" name="TextBox 18"/>
          <p:cNvSpPr txBox="1"/>
          <p:nvPr/>
        </p:nvSpPr>
        <p:spPr>
          <a:xfrm>
            <a:off x="3570640" y="532232"/>
            <a:ext cx="2917027" cy="693298"/>
          </a:xfrm>
          <a:prstGeom prst="rect">
            <a:avLst/>
          </a:prstGeom>
          <a:noFill/>
        </p:spPr>
        <p:txBody>
          <a:bodyPr wrap="square" lIns="0" rIns="0" tIns="0" bIns="0" anchor="t"/>
          <a:lstStyle/>
          <a:p>
            <a:pPr algn="l">
              <a:lnSpc>
                <a:spcPts val="1470"/>
              </a:lnSpc>
              <a:spcBef>
                <a:spcPts val="0"/>
              </a:spcBef>
              <a:spcAft>
                <a:spcPts val="0"/>
              </a:spcAft>
            </a:pPr>
            <a:r>
              <a:rPr sz="1400" b="1" i="0" spc="-8">
                <a:solidFill>
                  <a:srgbClr val="FFFFFF"/>
                </a:solidFill>
                <a:latin typeface="Montserrat"/>
              </a:rPr>
              <a:t>A global community amplifies the impact of this vital work.</a:t>
            </a:r>
          </a:p>
        </p:txBody>
      </p:sp>
      <p:sp>
        <p:nvSpPr>
          <p:cNvPr id="20" name="TextBox 19"/>
          <p:cNvSpPr txBox="1"/>
          <p:nvPr/>
        </p:nvSpPr>
        <p:spPr>
          <a:xfrm>
            <a:off x="3570640" y="2128416"/>
            <a:ext cx="2917027" cy="427207"/>
          </a:xfrm>
          <a:prstGeom prst="rect">
            <a:avLst/>
          </a:prstGeom>
          <a:noFill/>
        </p:spPr>
        <p:txBody>
          <a:bodyPr wrap="square" lIns="0" rIns="0" tIns="0" bIns="0" anchor="t"/>
          <a:lstStyle/>
          <a:p>
            <a:pPr algn="l">
              <a:lnSpc>
                <a:spcPts val="844"/>
              </a:lnSpc>
              <a:spcBef>
                <a:spcPts val="0"/>
              </a:spcBef>
              <a:spcAft>
                <a:spcPts val="0"/>
              </a:spcAft>
            </a:pPr>
            <a:r>
              <a:rPr sz="669" b="0" i="1">
                <a:solidFill>
                  <a:srgbClr val="6A665C"/>
                </a:solidFill>
                <a:latin typeface="Source Sans 3"/>
              </a:rPr>
              <a:t>A workshop group around a finished compost pile.</a:t>
            </a:r>
          </a:p>
        </p:txBody>
      </p:sp>
      <p:sp>
        <p:nvSpPr>
          <p:cNvPr id="21" name="TextBox 20"/>
          <p:cNvSpPr txBox="1"/>
          <p:nvPr/>
        </p:nvSpPr>
        <p:spPr>
          <a:xfrm>
            <a:off x="4731837" y="2475098"/>
            <a:ext cx="1755830" cy="584941"/>
          </a:xfrm>
          <a:prstGeom prst="rect">
            <a:avLst/>
          </a:prstGeom>
          <a:noFill/>
        </p:spPr>
        <p:txBody>
          <a:bodyPr wrap="square" lIns="0" rIns="0" tIns="0" bIns="0" anchor="t"/>
          <a:lstStyle/>
          <a:p>
            <a:pPr algn="l">
              <a:lnSpc>
                <a:spcPts val="1044"/>
              </a:lnSpc>
              <a:spcBef>
                <a:spcPts val="0"/>
              </a:spcBef>
              <a:spcAft>
                <a:spcPts val="0"/>
              </a:spcAft>
            </a:pPr>
            <a:r>
              <a:rPr sz="900" b="1" i="0">
                <a:solidFill>
                  <a:srgbClr val="4F3433"/>
                </a:solidFill>
                <a:latin typeface="Montserrat"/>
              </a:rPr>
              <a:t>Join the free online community</a:t>
            </a:r>
          </a:p>
        </p:txBody>
      </p:sp>
      <p:sp>
        <p:nvSpPr>
          <p:cNvPr id="22" name="TextBox 21"/>
          <p:cNvSpPr txBox="1"/>
          <p:nvPr/>
        </p:nvSpPr>
        <p:spPr>
          <a:xfrm>
            <a:off x="4731837" y="2768003"/>
            <a:ext cx="1755830" cy="920526"/>
          </a:xfrm>
          <a:prstGeom prst="rect">
            <a:avLst/>
          </a:prstGeom>
          <a:noFill/>
        </p:spPr>
        <p:txBody>
          <a:bodyPr wrap="square" lIns="0" rIns="0" tIns="0" bIns="0" anchor="t"/>
          <a:lstStyle/>
          <a:p>
            <a:pPr algn="l">
              <a:lnSpc>
                <a:spcPts val="947"/>
              </a:lnSpc>
              <a:spcBef>
                <a:spcPts val="0"/>
              </a:spcBef>
              <a:spcAft>
                <a:spcPts val="0"/>
              </a:spcAft>
            </a:pPr>
            <a:r>
              <a:rPr sz="740" b="0" i="0">
                <a:solidFill>
                  <a:srgbClr val="4A463F"/>
                </a:solidFill>
                <a:latin typeface="Source Sans 3"/>
              </a:rPr>
              <a:t>Meet other people in the regenerative agricultural space. Get your questions answered by other practitioners of the soil food web approach who share the desire to restore the world's soils.</a:t>
            </a:r>
          </a:p>
        </p:txBody>
      </p:sp>
      <p:sp>
        <p:nvSpPr>
          <p:cNvPr id="23" name="TextBox 22"/>
          <p:cNvSpPr txBox="1"/>
          <p:nvPr/>
        </p:nvSpPr>
        <p:spPr>
          <a:xfrm>
            <a:off x="4731837" y="3396731"/>
            <a:ext cx="1755830" cy="442569"/>
          </a:xfrm>
          <a:prstGeom prst="rect">
            <a:avLst/>
          </a:prstGeom>
          <a:noFill/>
        </p:spPr>
        <p:txBody>
          <a:bodyPr wrap="square" lIns="0" rIns="0" tIns="0" bIns="0" anchor="t"/>
          <a:lstStyle/>
          <a:p>
            <a:pPr algn="l">
              <a:lnSpc>
                <a:spcPts val="966"/>
              </a:lnSpc>
              <a:spcBef>
                <a:spcPts val="0"/>
              </a:spcBef>
              <a:spcAft>
                <a:spcPts val="0"/>
              </a:spcAft>
            </a:pPr>
            <a:r>
              <a:rPr sz="699" b="0" i="1">
                <a:solidFill>
                  <a:srgbClr val="6A665C"/>
                </a:solidFill>
                <a:latin typeface="Source Sans 3"/>
              </a:rPr>
              <a:t>sfw.one/brochure-community</a:t>
            </a:r>
          </a:p>
        </p:txBody>
      </p:sp>
      <p:sp>
        <p:nvSpPr>
          <p:cNvPr id="24" name="TextBox 23"/>
          <p:cNvSpPr txBox="1"/>
          <p:nvPr/>
        </p:nvSpPr>
        <p:spPr>
          <a:xfrm>
            <a:off x="3570640" y="3643895"/>
            <a:ext cx="2917027" cy="1497604"/>
          </a:xfrm>
          <a:prstGeom prst="rect">
            <a:avLst/>
          </a:prstGeom>
          <a:noFill/>
        </p:spPr>
        <p:txBody>
          <a:bodyPr wrap="square" lIns="0" rIns="0" tIns="0" bIns="0" anchor="t"/>
          <a:lstStyle/>
          <a:p>
            <a:pPr algn="l">
              <a:lnSpc>
                <a:spcPts val="1159"/>
              </a:lnSpc>
              <a:spcBef>
                <a:spcPts val="0"/>
              </a:spcBef>
              <a:spcAft>
                <a:spcPts val="0"/>
              </a:spcAft>
            </a:pPr>
            <a:r>
              <a:rPr sz="839" b="0" i="0">
                <a:solidFill>
                  <a:srgbClr val="333130"/>
                </a:solidFill>
                <a:latin typeface="Source Sans 3"/>
              </a:rPr>
              <a:t>Dr. Elaine's soil food web approach is the key to rapid and effective soil regeneration. Only with the complete soil food web in place can the ecological functions of the soil be restored, protecting and purifying the world's waterways, reversing climate change and providing more nutritious foods. It's easy to find your place in this movement. Reach out to discover opportunities to join us as a student, volunteer, ambassador, donor and partner. </a:t>
            </a:r>
            <a:r>
              <a:rPr sz="710" b="0" i="0">
                <a:solidFill>
                  <a:srgbClr val="156826"/>
                </a:solidFill>
                <a:latin typeface="Source Sans 3"/>
              </a:rPr>
              <a:t>info@soilfoodweb.com</a:t>
            </a:r>
          </a:p>
        </p:txBody>
      </p:sp>
      <p:sp>
        <p:nvSpPr>
          <p:cNvPr id="25" name="TextBox 24"/>
          <p:cNvSpPr txBox="1"/>
          <p:nvPr/>
        </p:nvSpPr>
        <p:spPr>
          <a:xfrm>
            <a:off x="3570640" y="5292296"/>
            <a:ext cx="660836" cy="411297"/>
          </a:xfrm>
          <a:prstGeom prst="rect">
            <a:avLst/>
          </a:prstGeom>
          <a:noFill/>
        </p:spPr>
        <p:txBody>
          <a:bodyPr wrap="square" lIns="0" rIns="0" tIns="0" bIns="0" anchor="t"/>
          <a:lstStyle/>
          <a:p>
            <a:pPr algn="ctr">
              <a:lnSpc>
                <a:spcPts val="719"/>
              </a:lnSpc>
              <a:spcBef>
                <a:spcPts val="0"/>
              </a:spcBef>
              <a:spcAft>
                <a:spcPts val="0"/>
              </a:spcAft>
            </a:pPr>
            <a:r>
              <a:rPr sz="620" b="1" i="0" spc="50">
                <a:solidFill>
                  <a:srgbClr val="4F3433"/>
                </a:solidFill>
                <a:latin typeface="Montserrat"/>
              </a:rPr>
              <a:t>STUDY</a:t>
            </a:r>
          </a:p>
        </p:txBody>
      </p:sp>
      <p:sp>
        <p:nvSpPr>
          <p:cNvPr id="26" name="TextBox 25"/>
          <p:cNvSpPr txBox="1"/>
          <p:nvPr/>
        </p:nvSpPr>
        <p:spPr>
          <a:xfrm>
            <a:off x="4322826" y="5292296"/>
            <a:ext cx="660836" cy="411297"/>
          </a:xfrm>
          <a:prstGeom prst="rect">
            <a:avLst/>
          </a:prstGeom>
          <a:noFill/>
        </p:spPr>
        <p:txBody>
          <a:bodyPr wrap="square" lIns="0" rIns="0" tIns="0" bIns="0" anchor="t"/>
          <a:lstStyle/>
          <a:p>
            <a:pPr algn="ctr">
              <a:lnSpc>
                <a:spcPts val="719"/>
              </a:lnSpc>
              <a:spcBef>
                <a:spcPts val="0"/>
              </a:spcBef>
              <a:spcAft>
                <a:spcPts val="0"/>
              </a:spcAft>
            </a:pPr>
            <a:r>
              <a:rPr sz="620" b="1" i="0" spc="50">
                <a:solidFill>
                  <a:srgbClr val="4F3433"/>
                </a:solidFill>
                <a:latin typeface="Montserrat"/>
              </a:rPr>
              <a:t>VOLUNTEER</a:t>
            </a:r>
          </a:p>
        </p:txBody>
      </p:sp>
      <p:sp>
        <p:nvSpPr>
          <p:cNvPr id="27" name="TextBox 26"/>
          <p:cNvSpPr txBox="1"/>
          <p:nvPr/>
        </p:nvSpPr>
        <p:spPr>
          <a:xfrm>
            <a:off x="5075011" y="5292296"/>
            <a:ext cx="660836" cy="411297"/>
          </a:xfrm>
          <a:prstGeom prst="rect">
            <a:avLst/>
          </a:prstGeom>
          <a:noFill/>
        </p:spPr>
        <p:txBody>
          <a:bodyPr wrap="square" lIns="0" rIns="0" tIns="0" bIns="0" anchor="t"/>
          <a:lstStyle/>
          <a:p>
            <a:pPr algn="ctr">
              <a:lnSpc>
                <a:spcPts val="719"/>
              </a:lnSpc>
              <a:spcBef>
                <a:spcPts val="0"/>
              </a:spcBef>
              <a:spcAft>
                <a:spcPts val="0"/>
              </a:spcAft>
            </a:pPr>
            <a:r>
              <a:rPr sz="620" b="1" i="0" spc="50">
                <a:solidFill>
                  <a:srgbClr val="4F3433"/>
                </a:solidFill>
                <a:latin typeface="Montserrat"/>
              </a:rPr>
              <a:t>DONATE</a:t>
            </a:r>
          </a:p>
        </p:txBody>
      </p:sp>
      <p:sp>
        <p:nvSpPr>
          <p:cNvPr id="28" name="TextBox 27"/>
          <p:cNvSpPr txBox="1"/>
          <p:nvPr/>
        </p:nvSpPr>
        <p:spPr>
          <a:xfrm>
            <a:off x="5827196" y="5292296"/>
            <a:ext cx="660836" cy="411297"/>
          </a:xfrm>
          <a:prstGeom prst="rect">
            <a:avLst/>
          </a:prstGeom>
          <a:noFill/>
        </p:spPr>
        <p:txBody>
          <a:bodyPr wrap="square" lIns="0" rIns="0" tIns="0" bIns="0" anchor="t"/>
          <a:lstStyle/>
          <a:p>
            <a:pPr algn="ctr">
              <a:lnSpc>
                <a:spcPts val="719"/>
              </a:lnSpc>
              <a:spcBef>
                <a:spcPts val="0"/>
              </a:spcBef>
              <a:spcAft>
                <a:spcPts val="0"/>
              </a:spcAft>
            </a:pPr>
            <a:r>
              <a:rPr sz="620" b="1" i="0" spc="50">
                <a:solidFill>
                  <a:srgbClr val="4F3433"/>
                </a:solidFill>
                <a:latin typeface="Montserrat"/>
              </a:rPr>
              <a:t>HOST</a:t>
            </a:r>
          </a:p>
        </p:txBody>
      </p:sp>
      <p:sp>
        <p:nvSpPr>
          <p:cNvPr id="29" name="TextBox 28"/>
          <p:cNvSpPr txBox="1"/>
          <p:nvPr/>
        </p:nvSpPr>
        <p:spPr>
          <a:xfrm>
            <a:off x="3708532" y="5676565"/>
            <a:ext cx="2660446" cy="696407"/>
          </a:xfrm>
          <a:prstGeom prst="rect">
            <a:avLst/>
          </a:prstGeom>
          <a:noFill/>
        </p:spPr>
        <p:txBody>
          <a:bodyPr wrap="square" lIns="0" rIns="0" tIns="0" bIns="0" anchor="t"/>
          <a:lstStyle/>
          <a:p>
            <a:pPr algn="l">
              <a:lnSpc>
                <a:spcPts val="987"/>
              </a:lnSpc>
              <a:spcBef>
                <a:spcPts val="0"/>
              </a:spcBef>
              <a:spcAft>
                <a:spcPts val="0"/>
              </a:spcAft>
            </a:pPr>
            <a:r>
              <a:rPr sz="759" b="1" i="0">
                <a:solidFill>
                  <a:srgbClr val="FFFFFF"/>
                </a:solidFill>
                <a:latin typeface="Montserrat"/>
              </a:rPr>
              <a:t>5441 S Macadam Ave Ste N</a:t>
            </a:r>
          </a:p>
          <a:p>
            <a:pPr algn="l">
              <a:lnSpc>
                <a:spcPts val="987"/>
              </a:lnSpc>
              <a:spcBef>
                <a:spcPts val="0"/>
              </a:spcBef>
              <a:spcAft>
                <a:spcPts val="0"/>
              </a:spcAft>
            </a:pPr>
            <a:r>
              <a:rPr sz="759" b="1" i="0">
                <a:solidFill>
                  <a:srgbClr val="FFFFFF"/>
                </a:solidFill>
                <a:latin typeface="Montserrat"/>
              </a:rPr>
              <a:t>Portland, Oregon 97239</a:t>
            </a:r>
          </a:p>
          <a:p>
            <a:pPr algn="l">
              <a:lnSpc>
                <a:spcPts val="987"/>
              </a:lnSpc>
              <a:spcBef>
                <a:spcPts val="0"/>
              </a:spcBef>
              <a:spcAft>
                <a:spcPts val="0"/>
              </a:spcAft>
            </a:pPr>
            <a:r>
              <a:rPr sz="759" b="1" i="0">
                <a:solidFill>
                  <a:srgbClr val="FFFFFF"/>
                </a:solidFill>
                <a:latin typeface="Montserrat"/>
              </a:rPr>
              <a:t>soilfoodweb.com</a:t>
            </a:r>
          </a:p>
        </p:txBody>
      </p:sp>
      <p:sp>
        <p:nvSpPr>
          <p:cNvPr id="30" name="TextBox 29"/>
          <p:cNvSpPr txBox="1"/>
          <p:nvPr/>
        </p:nvSpPr>
        <p:spPr>
          <a:xfrm>
            <a:off x="3708532" y="6093369"/>
            <a:ext cx="2660446" cy="553120"/>
          </a:xfrm>
          <a:prstGeom prst="rect">
            <a:avLst/>
          </a:prstGeom>
          <a:noFill/>
        </p:spPr>
        <p:txBody>
          <a:bodyPr wrap="square" lIns="0" rIns="0" tIns="0" bIns="0" anchor="t"/>
          <a:lstStyle/>
          <a:p>
            <a:pPr algn="l">
              <a:lnSpc>
                <a:spcPts val="918"/>
              </a:lnSpc>
              <a:spcBef>
                <a:spcPts val="0"/>
              </a:spcBef>
              <a:spcAft>
                <a:spcPts val="0"/>
              </a:spcAft>
            </a:pPr>
            <a:r>
              <a:rPr sz="680" b="0" i="0">
                <a:solidFill>
                  <a:srgbClr val="FFFFFF">
                    <a:alpha val="82000"/>
                  </a:srgbClr>
                </a:solidFill>
                <a:latin typeface="Source Sans 3"/>
              </a:rPr>
              <a:t>Soil Food Web Foundation is a 501(c)(3) nonprofit organization, EIN 39-4439236. The Soil Food Web School is a program of the Foundation.</a:t>
            </a:r>
          </a:p>
        </p:txBody>
      </p:sp>
      <p:sp>
        <p:nvSpPr>
          <p:cNvPr id="31" name="TextBox 30"/>
          <p:cNvSpPr txBox="1"/>
          <p:nvPr/>
        </p:nvSpPr>
        <p:spPr>
          <a:xfrm>
            <a:off x="4731837" y="6756136"/>
            <a:ext cx="1755830" cy="452536"/>
          </a:xfrm>
          <a:prstGeom prst="rect">
            <a:avLst/>
          </a:prstGeom>
          <a:noFill/>
        </p:spPr>
        <p:txBody>
          <a:bodyPr wrap="square" lIns="0" rIns="0" tIns="0" bIns="0" anchor="t"/>
          <a:lstStyle/>
          <a:p>
            <a:pPr algn="l">
              <a:lnSpc>
                <a:spcPts val="1044"/>
              </a:lnSpc>
              <a:spcBef>
                <a:spcPts val="0"/>
              </a:spcBef>
              <a:spcAft>
                <a:spcPts val="0"/>
              </a:spcAft>
            </a:pPr>
            <a:r>
              <a:rPr sz="900" b="1" i="0">
                <a:solidFill>
                  <a:srgbClr val="FFFFFF"/>
                </a:solidFill>
                <a:latin typeface="Montserrat"/>
              </a:rPr>
              <a:t>Donate</a:t>
            </a:r>
          </a:p>
        </p:txBody>
      </p:sp>
      <p:sp>
        <p:nvSpPr>
          <p:cNvPr id="32" name="TextBox 31"/>
          <p:cNvSpPr txBox="1"/>
          <p:nvPr/>
        </p:nvSpPr>
        <p:spPr>
          <a:xfrm>
            <a:off x="4731837" y="6916636"/>
            <a:ext cx="1755830" cy="680313"/>
          </a:xfrm>
          <a:prstGeom prst="rect">
            <a:avLst/>
          </a:prstGeom>
          <a:noFill/>
        </p:spPr>
        <p:txBody>
          <a:bodyPr wrap="square" lIns="0" rIns="0" tIns="0" bIns="0" anchor="t"/>
          <a:lstStyle/>
          <a:p>
            <a:pPr algn="l">
              <a:lnSpc>
                <a:spcPts val="947"/>
              </a:lnSpc>
              <a:spcBef>
                <a:spcPts val="0"/>
              </a:spcBef>
              <a:spcAft>
                <a:spcPts val="0"/>
              </a:spcAft>
            </a:pPr>
            <a:r>
              <a:rPr sz="740" b="0" i="0">
                <a:solidFill>
                  <a:srgbClr val="FFFFFF">
                    <a:alpha val="86000"/>
                  </a:srgbClr>
                </a:solidFill>
                <a:latin typeface="Source Sans 3"/>
              </a:rPr>
              <a:t>Gifts fund open research, scholarships and field projects. Tax-deductible to the extent allowed by law.</a:t>
            </a:r>
          </a:p>
        </p:txBody>
      </p:sp>
      <p:sp>
        <p:nvSpPr>
          <p:cNvPr id="33" name="TextBox 32"/>
          <p:cNvSpPr txBox="1"/>
          <p:nvPr/>
        </p:nvSpPr>
        <p:spPr>
          <a:xfrm>
            <a:off x="4731837" y="7305151"/>
            <a:ext cx="1755830" cy="442569"/>
          </a:xfrm>
          <a:prstGeom prst="rect">
            <a:avLst/>
          </a:prstGeom>
          <a:noFill/>
        </p:spPr>
        <p:txBody>
          <a:bodyPr wrap="square" lIns="0" rIns="0" tIns="0" bIns="0" anchor="t"/>
          <a:lstStyle/>
          <a:p>
            <a:pPr algn="l">
              <a:lnSpc>
                <a:spcPts val="966"/>
              </a:lnSpc>
              <a:spcBef>
                <a:spcPts val="0"/>
              </a:spcBef>
              <a:spcAft>
                <a:spcPts val="0"/>
              </a:spcAft>
            </a:pPr>
            <a:r>
              <a:rPr sz="699" b="0" i="1">
                <a:solidFill>
                  <a:srgbClr val="FFFFFF">
                    <a:alpha val="70000"/>
                  </a:srgbClr>
                </a:solidFill>
                <a:latin typeface="Source Sans 3"/>
              </a:rPr>
              <a:t>sfw.one/brochure-donate</a:t>
            </a:r>
          </a:p>
        </p:txBody>
      </p:sp>
      <p:sp>
        <p:nvSpPr>
          <p:cNvPr id="34" name="TextBox 33"/>
          <p:cNvSpPr txBox="1"/>
          <p:nvPr/>
        </p:nvSpPr>
        <p:spPr>
          <a:xfrm>
            <a:off x="7822600" y="284255"/>
            <a:ext cx="1061161" cy="649864"/>
          </a:xfrm>
          <a:prstGeom prst="rect">
            <a:avLst/>
          </a:prstGeom>
          <a:noFill/>
        </p:spPr>
        <p:txBody>
          <a:bodyPr wrap="square" lIns="0" rIns="0" tIns="0" bIns="0" anchor="t"/>
          <a:lstStyle/>
          <a:p>
            <a:pPr algn="l">
              <a:lnSpc>
                <a:spcPts val="1299"/>
              </a:lnSpc>
              <a:spcBef>
                <a:spcPts val="0"/>
              </a:spcBef>
              <a:spcAft>
                <a:spcPts val="0"/>
              </a:spcAft>
            </a:pPr>
            <a:r>
              <a:rPr sz="1160" b="1" i="0" spc="-9">
                <a:solidFill>
                  <a:srgbClr val="4F3433"/>
                </a:solidFill>
                <a:latin typeface="Montserrat"/>
              </a:rPr>
              <a:t>Soil Food Web</a:t>
            </a:r>
          </a:p>
          <a:p>
            <a:pPr algn="l">
              <a:lnSpc>
                <a:spcPts val="1299"/>
              </a:lnSpc>
              <a:spcBef>
                <a:spcPts val="0"/>
              </a:spcBef>
              <a:spcAft>
                <a:spcPts val="0"/>
              </a:spcAft>
            </a:pPr>
            <a:r>
              <a:rPr sz="1160" b="1" i="0" spc="-9">
                <a:solidFill>
                  <a:srgbClr val="4F3433"/>
                </a:solidFill>
                <a:latin typeface="Montserrat"/>
              </a:rPr>
              <a:t>Foundation</a:t>
            </a:r>
          </a:p>
        </p:txBody>
      </p:sp>
      <p:sp>
        <p:nvSpPr>
          <p:cNvPr id="35" name="TextBox 34"/>
          <p:cNvSpPr txBox="1"/>
          <p:nvPr/>
        </p:nvSpPr>
        <p:spPr>
          <a:xfrm>
            <a:off x="7822600" y="617226"/>
            <a:ext cx="1061161" cy="460217"/>
          </a:xfrm>
          <a:prstGeom prst="rect">
            <a:avLst/>
          </a:prstGeom>
          <a:noFill/>
        </p:spPr>
        <p:txBody>
          <a:bodyPr wrap="square" lIns="0" rIns="0" tIns="0" bIns="0" anchor="t"/>
          <a:lstStyle/>
          <a:p>
            <a:pPr algn="l">
              <a:lnSpc>
                <a:spcPts val="1104"/>
              </a:lnSpc>
              <a:spcBef>
                <a:spcPts val="0"/>
              </a:spcBef>
              <a:spcAft>
                <a:spcPts val="0"/>
              </a:spcAft>
            </a:pPr>
            <a:r>
              <a:rPr sz="800" b="0" i="1">
                <a:solidFill>
                  <a:srgbClr val="6A665C"/>
                </a:solidFill>
                <a:latin typeface="Source Sans 3"/>
              </a:rPr>
              <a:t>A 501(c)(3) nonprofit</a:t>
            </a:r>
          </a:p>
        </p:txBody>
      </p:sp>
      <p:sp>
        <p:nvSpPr>
          <p:cNvPr id="36" name="TextBox 35"/>
          <p:cNvSpPr txBox="1"/>
          <p:nvPr/>
        </p:nvSpPr>
        <p:spPr>
          <a:xfrm>
            <a:off x="6999640" y="2152138"/>
            <a:ext cx="2917027" cy="1142908"/>
          </a:xfrm>
          <a:prstGeom prst="rect">
            <a:avLst/>
          </a:prstGeom>
          <a:noFill/>
        </p:spPr>
        <p:txBody>
          <a:bodyPr wrap="square" lIns="0" rIns="0" tIns="0" bIns="0" anchor="t"/>
          <a:lstStyle/>
          <a:p>
            <a:pPr algn="l">
              <a:lnSpc>
                <a:spcPts val="2160"/>
              </a:lnSpc>
              <a:spcBef>
                <a:spcPts val="0"/>
              </a:spcBef>
              <a:spcAft>
                <a:spcPts val="0"/>
              </a:spcAft>
            </a:pPr>
            <a:r>
              <a:rPr sz="2000" b="1" i="0" spc="-12">
                <a:solidFill>
                  <a:srgbClr val="4F3433"/>
                </a:solidFill>
                <a:latin typeface="Montserrat"/>
              </a:rPr>
              <a:t>The soil beneath our farms and forests is alive.</a:t>
            </a:r>
          </a:p>
        </p:txBody>
      </p:sp>
      <p:sp>
        <p:nvSpPr>
          <p:cNvPr id="37" name="TextBox 36"/>
          <p:cNvSpPr txBox="1"/>
          <p:nvPr/>
        </p:nvSpPr>
        <p:spPr>
          <a:xfrm>
            <a:off x="6999640" y="3135462"/>
            <a:ext cx="2917027" cy="804946"/>
          </a:xfrm>
          <a:prstGeom prst="rect">
            <a:avLst/>
          </a:prstGeom>
          <a:noFill/>
        </p:spPr>
        <p:txBody>
          <a:bodyPr wrap="square" lIns="0" rIns="0" tIns="0" bIns="0" anchor="t"/>
          <a:lstStyle/>
          <a:p>
            <a:pPr algn="l">
              <a:lnSpc>
                <a:spcPts val="1274"/>
              </a:lnSpc>
              <a:spcBef>
                <a:spcPts val="0"/>
              </a:spcBef>
              <a:spcAft>
                <a:spcPts val="0"/>
              </a:spcAft>
            </a:pPr>
            <a:r>
              <a:rPr sz="980" b="0" i="0">
                <a:solidFill>
                  <a:srgbClr val="333130"/>
                </a:solidFill>
                <a:latin typeface="Source Sans 3"/>
              </a:rPr>
              <a:t>A web of bacteria, fungi, protozoa, nematodes and microarthropods feeds plants, builds soil, stores carbon and cleans water </a:t>
            </a:r>
            <a:r>
              <a:rPr sz="980" b="0" i="1">
                <a:solidFill>
                  <a:srgbClr val="333130"/>
                </a:solidFill>
                <a:latin typeface="Source Sans 3"/>
              </a:rPr>
              <a:t>when it is intact</a:t>
            </a:r>
            <a:r>
              <a:rPr sz="980" b="0" i="0">
                <a:solidFill>
                  <a:srgbClr val="333130"/>
                </a:solidFill>
                <a:latin typeface="Source Sans 3"/>
              </a:rPr>
              <a:t>.</a:t>
            </a:r>
          </a:p>
        </p:txBody>
      </p:sp>
      <p:sp>
        <p:nvSpPr>
          <p:cNvPr id="38" name="TextBox 37"/>
          <p:cNvSpPr txBox="1"/>
          <p:nvPr/>
        </p:nvSpPr>
        <p:spPr>
          <a:xfrm>
            <a:off x="6999640" y="3673522"/>
            <a:ext cx="2917027" cy="1203167"/>
          </a:xfrm>
          <a:prstGeom prst="rect">
            <a:avLst/>
          </a:prstGeom>
          <a:noFill/>
        </p:spPr>
        <p:txBody>
          <a:bodyPr wrap="square" lIns="0" rIns="0" tIns="0" bIns="0" anchor="t"/>
          <a:lstStyle/>
          <a:p>
            <a:pPr algn="l">
              <a:lnSpc>
                <a:spcPts val="1159"/>
              </a:lnSpc>
              <a:spcBef>
                <a:spcPts val="0"/>
              </a:spcBef>
              <a:spcAft>
                <a:spcPts val="0"/>
              </a:spcAft>
            </a:pPr>
            <a:r>
              <a:rPr sz="839" b="0" i="0">
                <a:solidFill>
                  <a:srgbClr val="333130"/>
                </a:solidFill>
                <a:latin typeface="Source Sans 3"/>
              </a:rPr>
              <a:t>For forty-five years, Dr. Elaine Ingham mapped the Soil Food Web and taught the world to restore it. We carry her legacy forward: showing </a:t>
            </a:r>
            <a:r>
              <a:rPr sz="839" b="1" i="0">
                <a:solidFill>
                  <a:srgbClr val="333130"/>
                </a:solidFill>
                <a:latin typeface="Source Sans 3"/>
              </a:rPr>
              <a:t>what</a:t>
            </a:r>
            <a:r>
              <a:rPr sz="839" b="0" i="0">
                <a:solidFill>
                  <a:srgbClr val="333130"/>
                </a:solidFill>
                <a:latin typeface="Source Sans 3"/>
              </a:rPr>
              <a:t> is possible, teaching </a:t>
            </a:r>
            <a:r>
              <a:rPr sz="839" b="1" i="0">
                <a:solidFill>
                  <a:srgbClr val="333130"/>
                </a:solidFill>
                <a:latin typeface="Source Sans 3"/>
              </a:rPr>
              <a:t>how</a:t>
            </a:r>
            <a:r>
              <a:rPr sz="839" b="0" i="0">
                <a:solidFill>
                  <a:srgbClr val="333130"/>
                </a:solidFill>
                <a:latin typeface="Source Sans 3"/>
              </a:rPr>
              <a:t> to partner with life in the soil, researching </a:t>
            </a:r>
            <a:r>
              <a:rPr sz="839" b="1" i="0">
                <a:solidFill>
                  <a:srgbClr val="333130"/>
                </a:solidFill>
                <a:latin typeface="Source Sans 3"/>
              </a:rPr>
              <a:t>why</a:t>
            </a:r>
            <a:r>
              <a:rPr sz="839" b="0" i="0">
                <a:solidFill>
                  <a:srgbClr val="333130"/>
                </a:solidFill>
                <a:latin typeface="Source Sans 3"/>
              </a:rPr>
              <a:t> things work or do not, and getting dirty through </a:t>
            </a:r>
            <a:r>
              <a:rPr sz="839" b="1" i="0">
                <a:solidFill>
                  <a:srgbClr val="333130"/>
                </a:solidFill>
                <a:latin typeface="Source Sans 3"/>
              </a:rPr>
              <a:t>direct action</a:t>
            </a:r>
            <a:r>
              <a:rPr sz="839" b="0" i="0">
                <a:solidFill>
                  <a:srgbClr val="333130"/>
                </a:solidFill>
                <a:latin typeface="Source Sans 3"/>
              </a:rPr>
              <a:t> on working land. Living soil is the solution, and it is beneath your feet.</a:t>
            </a:r>
          </a:p>
        </p:txBody>
      </p:sp>
      <p:sp>
        <p:nvSpPr>
          <p:cNvPr id="39" name="TextBox 38"/>
          <p:cNvSpPr txBox="1"/>
          <p:nvPr/>
        </p:nvSpPr>
        <p:spPr>
          <a:xfrm>
            <a:off x="6999640" y="5027486"/>
            <a:ext cx="660836" cy="411297"/>
          </a:xfrm>
          <a:prstGeom prst="rect">
            <a:avLst/>
          </a:prstGeom>
          <a:noFill/>
        </p:spPr>
        <p:txBody>
          <a:bodyPr wrap="square" lIns="0" rIns="0" tIns="0" bIns="0" anchor="t"/>
          <a:lstStyle/>
          <a:p>
            <a:pPr algn="ctr">
              <a:lnSpc>
                <a:spcPts val="719"/>
              </a:lnSpc>
              <a:spcBef>
                <a:spcPts val="0"/>
              </a:spcBef>
              <a:spcAft>
                <a:spcPts val="0"/>
              </a:spcAft>
            </a:pPr>
            <a:r>
              <a:rPr sz="620" b="1" i="0" spc="50">
                <a:solidFill>
                  <a:srgbClr val="4F3433"/>
                </a:solidFill>
                <a:latin typeface="Montserrat"/>
              </a:rPr>
              <a:t>EDUCATION</a:t>
            </a:r>
          </a:p>
        </p:txBody>
      </p:sp>
      <p:sp>
        <p:nvSpPr>
          <p:cNvPr id="40" name="TextBox 39"/>
          <p:cNvSpPr txBox="1"/>
          <p:nvPr/>
        </p:nvSpPr>
        <p:spPr>
          <a:xfrm>
            <a:off x="7751825" y="5027486"/>
            <a:ext cx="660836" cy="411297"/>
          </a:xfrm>
          <a:prstGeom prst="rect">
            <a:avLst/>
          </a:prstGeom>
          <a:noFill/>
        </p:spPr>
        <p:txBody>
          <a:bodyPr wrap="square" lIns="0" rIns="0" tIns="0" bIns="0" anchor="t"/>
          <a:lstStyle/>
          <a:p>
            <a:pPr algn="ctr">
              <a:lnSpc>
                <a:spcPts val="719"/>
              </a:lnSpc>
              <a:spcBef>
                <a:spcPts val="0"/>
              </a:spcBef>
              <a:spcAft>
                <a:spcPts val="0"/>
              </a:spcAft>
            </a:pPr>
            <a:r>
              <a:rPr sz="620" b="1" i="0" spc="50">
                <a:solidFill>
                  <a:srgbClr val="4F3433"/>
                </a:solidFill>
                <a:latin typeface="Montserrat"/>
              </a:rPr>
              <a:t>RESEARCH</a:t>
            </a:r>
          </a:p>
        </p:txBody>
      </p:sp>
      <p:sp>
        <p:nvSpPr>
          <p:cNvPr id="41" name="TextBox 40"/>
          <p:cNvSpPr txBox="1"/>
          <p:nvPr/>
        </p:nvSpPr>
        <p:spPr>
          <a:xfrm>
            <a:off x="8504011" y="5027486"/>
            <a:ext cx="660836" cy="411297"/>
          </a:xfrm>
          <a:prstGeom prst="rect">
            <a:avLst/>
          </a:prstGeom>
          <a:noFill/>
        </p:spPr>
        <p:txBody>
          <a:bodyPr wrap="square" lIns="0" rIns="0" tIns="0" bIns="0" anchor="t"/>
          <a:lstStyle/>
          <a:p>
            <a:pPr algn="ctr">
              <a:lnSpc>
                <a:spcPts val="719"/>
              </a:lnSpc>
              <a:spcBef>
                <a:spcPts val="0"/>
              </a:spcBef>
              <a:spcAft>
                <a:spcPts val="0"/>
              </a:spcAft>
            </a:pPr>
            <a:r>
              <a:rPr sz="620" b="1" i="0" spc="50">
                <a:solidFill>
                  <a:srgbClr val="4F3433"/>
                </a:solidFill>
                <a:latin typeface="Montserrat"/>
              </a:rPr>
              <a:t>PRACTICE</a:t>
            </a:r>
          </a:p>
        </p:txBody>
      </p:sp>
      <p:sp>
        <p:nvSpPr>
          <p:cNvPr id="42" name="TextBox 41"/>
          <p:cNvSpPr txBox="1"/>
          <p:nvPr/>
        </p:nvSpPr>
        <p:spPr>
          <a:xfrm>
            <a:off x="9256196" y="5027486"/>
            <a:ext cx="660836" cy="411297"/>
          </a:xfrm>
          <a:prstGeom prst="rect">
            <a:avLst/>
          </a:prstGeom>
          <a:noFill/>
        </p:spPr>
        <p:txBody>
          <a:bodyPr wrap="square" lIns="0" rIns="0" tIns="0" bIns="0" anchor="t"/>
          <a:lstStyle/>
          <a:p>
            <a:pPr algn="ctr">
              <a:lnSpc>
                <a:spcPts val="719"/>
              </a:lnSpc>
              <a:spcBef>
                <a:spcPts val="0"/>
              </a:spcBef>
              <a:spcAft>
                <a:spcPts val="0"/>
              </a:spcAft>
            </a:pPr>
            <a:r>
              <a:rPr sz="620" b="1" i="0" spc="50">
                <a:solidFill>
                  <a:srgbClr val="4F3433"/>
                </a:solidFill>
                <a:latin typeface="Montserrat"/>
              </a:rPr>
              <a:t>COMMUNITY</a:t>
            </a:r>
          </a:p>
        </p:txBody>
      </p:sp>
      <p:sp>
        <p:nvSpPr>
          <p:cNvPr id="43" name="TextBox 42"/>
          <p:cNvSpPr txBox="1"/>
          <p:nvPr/>
        </p:nvSpPr>
        <p:spPr>
          <a:xfrm>
            <a:off x="6999640" y="5653278"/>
            <a:ext cx="2917027" cy="536021"/>
          </a:xfrm>
          <a:prstGeom prst="rect">
            <a:avLst/>
          </a:prstGeom>
          <a:noFill/>
        </p:spPr>
        <p:txBody>
          <a:bodyPr wrap="square" lIns="0" rIns="0" tIns="0" bIns="0" anchor="t"/>
          <a:lstStyle/>
          <a:p>
            <a:pPr algn="l">
              <a:lnSpc>
                <a:spcPts val="1700"/>
              </a:lnSpc>
              <a:spcBef>
                <a:spcPts val="0"/>
              </a:spcBef>
              <a:spcAft>
                <a:spcPts val="0"/>
              </a:spcAft>
            </a:pPr>
            <a:r>
              <a:rPr sz="1700" b="1" i="0" spc="-34">
                <a:solidFill>
                  <a:srgbClr val="FFFFFF"/>
                </a:solidFill>
                <a:latin typeface="Montserrat"/>
              </a:rPr>
              <a:t>132+</a:t>
            </a:r>
          </a:p>
        </p:txBody>
      </p:sp>
      <p:sp>
        <p:nvSpPr>
          <p:cNvPr id="44" name="TextBox 43"/>
          <p:cNvSpPr txBox="1"/>
          <p:nvPr/>
        </p:nvSpPr>
        <p:spPr>
          <a:xfrm>
            <a:off x="6999640" y="5889123"/>
            <a:ext cx="2917027" cy="444306"/>
          </a:xfrm>
          <a:prstGeom prst="rect">
            <a:avLst/>
          </a:prstGeom>
          <a:noFill/>
        </p:spPr>
        <p:txBody>
          <a:bodyPr wrap="square" lIns="0" rIns="0" tIns="0" bIns="0" anchor="t"/>
          <a:lstStyle/>
          <a:p>
            <a:pPr algn="l">
              <a:lnSpc>
                <a:spcPts val="979"/>
              </a:lnSpc>
              <a:spcBef>
                <a:spcPts val="0"/>
              </a:spcBef>
              <a:spcAft>
                <a:spcPts val="0"/>
              </a:spcAft>
            </a:pPr>
            <a:r>
              <a:rPr sz="789" b="0" i="0">
                <a:solidFill>
                  <a:srgbClr val="FFFFFF">
                    <a:alpha val="86000"/>
                  </a:srgbClr>
                </a:solidFill>
                <a:latin typeface="Source Sans 3"/>
              </a:rPr>
              <a:t>Countries in our student and practitioner community</a:t>
            </a:r>
          </a:p>
        </p:txBody>
      </p:sp>
      <p:sp>
        <p:nvSpPr>
          <p:cNvPr id="45" name="TextBox 44"/>
          <p:cNvSpPr txBox="1"/>
          <p:nvPr/>
        </p:nvSpPr>
        <p:spPr>
          <a:xfrm>
            <a:off x="6999640" y="6144494"/>
            <a:ext cx="2917027" cy="536021"/>
          </a:xfrm>
          <a:prstGeom prst="rect">
            <a:avLst/>
          </a:prstGeom>
          <a:noFill/>
        </p:spPr>
        <p:txBody>
          <a:bodyPr wrap="square" lIns="0" rIns="0" tIns="0" bIns="0" anchor="t"/>
          <a:lstStyle/>
          <a:p>
            <a:pPr algn="l">
              <a:lnSpc>
                <a:spcPts val="1700"/>
              </a:lnSpc>
              <a:spcBef>
                <a:spcPts val="0"/>
              </a:spcBef>
              <a:spcAft>
                <a:spcPts val="0"/>
              </a:spcAft>
            </a:pPr>
            <a:r>
              <a:rPr sz="1700" b="1" i="0" spc="-34">
                <a:solidFill>
                  <a:srgbClr val="FFFFFF"/>
                </a:solidFill>
                <a:latin typeface="Montserrat"/>
              </a:rPr>
              <a:t>10,000+</a:t>
            </a:r>
          </a:p>
        </p:txBody>
      </p:sp>
      <p:sp>
        <p:nvSpPr>
          <p:cNvPr id="46" name="TextBox 45"/>
          <p:cNvSpPr txBox="1"/>
          <p:nvPr/>
        </p:nvSpPr>
        <p:spPr>
          <a:xfrm>
            <a:off x="6999640" y="6380430"/>
            <a:ext cx="2917027" cy="444306"/>
          </a:xfrm>
          <a:prstGeom prst="rect">
            <a:avLst/>
          </a:prstGeom>
          <a:noFill/>
        </p:spPr>
        <p:txBody>
          <a:bodyPr wrap="square" lIns="0" rIns="0" tIns="0" bIns="0" anchor="t"/>
          <a:lstStyle/>
          <a:p>
            <a:pPr algn="l">
              <a:lnSpc>
                <a:spcPts val="979"/>
              </a:lnSpc>
              <a:spcBef>
                <a:spcPts val="0"/>
              </a:spcBef>
              <a:spcAft>
                <a:spcPts val="0"/>
              </a:spcAft>
            </a:pPr>
            <a:r>
              <a:rPr sz="789" b="0" i="0">
                <a:solidFill>
                  <a:srgbClr val="FFFFFF">
                    <a:alpha val="86000"/>
                  </a:srgbClr>
                </a:solidFill>
                <a:latin typeface="Source Sans 3"/>
              </a:rPr>
              <a:t>Individuals enrolled in our programs</a:t>
            </a:r>
          </a:p>
        </p:txBody>
      </p:sp>
      <p:sp>
        <p:nvSpPr>
          <p:cNvPr id="47" name="TextBox 46"/>
          <p:cNvSpPr txBox="1"/>
          <p:nvPr/>
        </p:nvSpPr>
        <p:spPr>
          <a:xfrm>
            <a:off x="6999640" y="6635801"/>
            <a:ext cx="2917027" cy="536021"/>
          </a:xfrm>
          <a:prstGeom prst="rect">
            <a:avLst/>
          </a:prstGeom>
          <a:noFill/>
        </p:spPr>
        <p:txBody>
          <a:bodyPr wrap="square" lIns="0" rIns="0" tIns="0" bIns="0" anchor="t"/>
          <a:lstStyle/>
          <a:p>
            <a:pPr algn="l">
              <a:lnSpc>
                <a:spcPts val="1700"/>
              </a:lnSpc>
              <a:spcBef>
                <a:spcPts val="0"/>
              </a:spcBef>
              <a:spcAft>
                <a:spcPts val="0"/>
              </a:spcAft>
            </a:pPr>
            <a:r>
              <a:rPr sz="1700" b="1" i="0" spc="-34">
                <a:solidFill>
                  <a:srgbClr val="FFFFFF"/>
                </a:solidFill>
                <a:latin typeface="Montserrat"/>
              </a:rPr>
              <a:t>45</a:t>
            </a:r>
          </a:p>
        </p:txBody>
      </p:sp>
      <p:sp>
        <p:nvSpPr>
          <p:cNvPr id="48" name="TextBox 47"/>
          <p:cNvSpPr txBox="1"/>
          <p:nvPr/>
        </p:nvSpPr>
        <p:spPr>
          <a:xfrm>
            <a:off x="6999640" y="6871737"/>
            <a:ext cx="2917027" cy="444306"/>
          </a:xfrm>
          <a:prstGeom prst="rect">
            <a:avLst/>
          </a:prstGeom>
          <a:noFill/>
        </p:spPr>
        <p:txBody>
          <a:bodyPr wrap="square" lIns="0" rIns="0" tIns="0" bIns="0" anchor="t"/>
          <a:lstStyle/>
          <a:p>
            <a:pPr algn="l">
              <a:lnSpc>
                <a:spcPts val="979"/>
              </a:lnSpc>
              <a:spcBef>
                <a:spcPts val="0"/>
              </a:spcBef>
              <a:spcAft>
                <a:spcPts val="0"/>
              </a:spcAft>
            </a:pPr>
            <a:r>
              <a:rPr sz="789" b="0" i="0">
                <a:solidFill>
                  <a:srgbClr val="FFFFFF">
                    <a:alpha val="86000"/>
                  </a:srgbClr>
                </a:solidFill>
                <a:latin typeface="Source Sans 3"/>
              </a:rPr>
              <a:t>Years of pioneering soil biology research behind the method</a:t>
            </a:r>
          </a:p>
        </p:txBody>
      </p:sp>
      <p:sp>
        <p:nvSpPr>
          <p:cNvPr id="49" name="TextBox 48"/>
          <p:cNvSpPr txBox="1"/>
          <p:nvPr/>
        </p:nvSpPr>
        <p:spPr>
          <a:xfrm>
            <a:off x="6999640" y="7116928"/>
            <a:ext cx="2917027" cy="814730"/>
          </a:xfrm>
          <a:prstGeom prst="rect">
            <a:avLst/>
          </a:prstGeom>
          <a:noFill/>
        </p:spPr>
        <p:txBody>
          <a:bodyPr wrap="square" lIns="0" rIns="0" tIns="0" bIns="0" anchor="t"/>
          <a:lstStyle/>
          <a:p>
            <a:pPr algn="l">
              <a:lnSpc>
                <a:spcPts val="1299"/>
              </a:lnSpc>
              <a:spcBef>
                <a:spcPts val="0"/>
              </a:spcBef>
              <a:spcAft>
                <a:spcPts val="0"/>
              </a:spcAft>
            </a:pPr>
            <a:r>
              <a:rPr sz="999" b="1" i="0" spc="-4">
                <a:solidFill>
                  <a:srgbClr val="FFFFFF"/>
                </a:solidFill>
                <a:latin typeface="Montserrat"/>
              </a:rPr>
              <a:t>Healing soil.</a:t>
            </a:r>
          </a:p>
          <a:p>
            <a:pPr algn="l">
              <a:lnSpc>
                <a:spcPts val="1299"/>
              </a:lnSpc>
              <a:spcBef>
                <a:spcPts val="0"/>
              </a:spcBef>
              <a:spcAft>
                <a:spcPts val="0"/>
              </a:spcAft>
            </a:pPr>
            <a:r>
              <a:rPr sz="999" b="1" i="0" spc="-4">
                <a:solidFill>
                  <a:srgbClr val="FFFFFF"/>
                </a:solidFill>
                <a:latin typeface="Montserrat"/>
              </a:rPr>
              <a:t>Feeding humanity.</a:t>
            </a:r>
          </a:p>
          <a:p>
            <a:pPr algn="l">
              <a:lnSpc>
                <a:spcPts val="1299"/>
              </a:lnSpc>
              <a:spcBef>
                <a:spcPts val="0"/>
              </a:spcBef>
              <a:spcAft>
                <a:spcPts val="0"/>
              </a:spcAft>
            </a:pPr>
            <a:r>
              <a:rPr sz="999" b="1" i="0" spc="-4">
                <a:solidFill>
                  <a:srgbClr val="FFFFFF"/>
                </a:solidFill>
                <a:latin typeface="Montserrat"/>
              </a:rPr>
              <a:t>Restoring the living world.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inside.png"/>
          <p:cNvPicPr>
            <a:picLocks noChangeAspect="1"/>
          </p:cNvPicPr>
          <p:nvPr/>
        </p:nvPicPr>
        <p:blipFill>
          <a:blip r:embed="rId2"/>
          <a:stretch>
            <a:fillRect/>
          </a:stretch>
        </p:blipFill>
        <p:spPr>
          <a:xfrm>
            <a:off x="0" y="0"/>
            <a:ext cx="10287000" cy="8001000"/>
          </a:xfrm>
          <a:prstGeom prst="rect">
            <a:avLst/>
          </a:prstGeom>
        </p:spPr>
      </p:pic>
      <p:sp>
        <p:nvSpPr>
          <p:cNvPr id="3" name="TextBox 2"/>
          <p:cNvSpPr txBox="1"/>
          <p:nvPr/>
        </p:nvSpPr>
        <p:spPr>
          <a:xfrm>
            <a:off x="370240" y="358969"/>
            <a:ext cx="2917027" cy="432145"/>
          </a:xfrm>
          <a:prstGeom prst="rect">
            <a:avLst/>
          </a:prstGeom>
          <a:noFill/>
        </p:spPr>
        <p:txBody>
          <a:bodyPr wrap="square" lIns="0" rIns="0" tIns="0" bIns="0" anchor="t"/>
          <a:lstStyle/>
          <a:p>
            <a:pPr algn="l">
              <a:lnSpc>
                <a:spcPts val="883"/>
              </a:lnSpc>
              <a:spcBef>
                <a:spcPts val="0"/>
              </a:spcBef>
              <a:spcAft>
                <a:spcPts val="0"/>
              </a:spcAft>
            </a:pPr>
            <a:r>
              <a:rPr sz="639" b="1" i="0" spc="96">
                <a:solidFill>
                  <a:srgbClr val="FFFFFF">
                    <a:alpha val="86000"/>
                  </a:srgbClr>
                </a:solidFill>
                <a:latin typeface="Montserrat"/>
              </a:rPr>
              <a:t>OUR STORY</a:t>
            </a:r>
          </a:p>
        </p:txBody>
      </p:sp>
      <p:sp>
        <p:nvSpPr>
          <p:cNvPr id="4" name="TextBox 3"/>
          <p:cNvSpPr txBox="1"/>
          <p:nvPr/>
        </p:nvSpPr>
        <p:spPr>
          <a:xfrm>
            <a:off x="370240" y="532232"/>
            <a:ext cx="2917027" cy="693298"/>
          </a:xfrm>
          <a:prstGeom prst="rect">
            <a:avLst/>
          </a:prstGeom>
          <a:noFill/>
        </p:spPr>
        <p:txBody>
          <a:bodyPr wrap="square" lIns="0" rIns="0" tIns="0" bIns="0" anchor="t"/>
          <a:lstStyle/>
          <a:p>
            <a:pPr algn="l">
              <a:lnSpc>
                <a:spcPts val="1470"/>
              </a:lnSpc>
              <a:spcBef>
                <a:spcPts val="0"/>
              </a:spcBef>
              <a:spcAft>
                <a:spcPts val="0"/>
              </a:spcAft>
            </a:pPr>
            <a:r>
              <a:rPr sz="1400" b="1" i="0" spc="-8">
                <a:solidFill>
                  <a:srgbClr val="FFFFFF"/>
                </a:solidFill>
                <a:latin typeface="Montserrat"/>
              </a:rPr>
              <a:t>It began with one scientist looking closer.</a:t>
            </a:r>
          </a:p>
        </p:txBody>
      </p:sp>
      <p:sp>
        <p:nvSpPr>
          <p:cNvPr id="5" name="TextBox 4"/>
          <p:cNvSpPr txBox="1"/>
          <p:nvPr/>
        </p:nvSpPr>
        <p:spPr>
          <a:xfrm>
            <a:off x="351952" y="2128416"/>
            <a:ext cx="2935315" cy="427207"/>
          </a:xfrm>
          <a:prstGeom prst="rect">
            <a:avLst/>
          </a:prstGeom>
          <a:noFill/>
        </p:spPr>
        <p:txBody>
          <a:bodyPr wrap="square" lIns="0" rIns="0" tIns="0" bIns="0" anchor="t"/>
          <a:lstStyle/>
          <a:p>
            <a:pPr algn="l">
              <a:lnSpc>
                <a:spcPts val="844"/>
              </a:lnSpc>
              <a:spcBef>
                <a:spcPts val="0"/>
              </a:spcBef>
              <a:spcAft>
                <a:spcPts val="0"/>
              </a:spcAft>
            </a:pPr>
            <a:r>
              <a:rPr sz="669" b="0" i="1">
                <a:solidFill>
                  <a:srgbClr val="FFFFFF">
                    <a:alpha val="70000"/>
                  </a:srgbClr>
                </a:solidFill>
                <a:latin typeface="Source Sans 3"/>
              </a:rPr>
              <a:t>Dr. Elaine Ingham at the microscope.</a:t>
            </a:r>
          </a:p>
        </p:txBody>
      </p:sp>
      <p:sp>
        <p:nvSpPr>
          <p:cNvPr id="6" name="TextBox 5"/>
          <p:cNvSpPr txBox="1"/>
          <p:nvPr/>
        </p:nvSpPr>
        <p:spPr>
          <a:xfrm>
            <a:off x="370240" y="2335938"/>
            <a:ext cx="2917027" cy="1056040"/>
          </a:xfrm>
          <a:prstGeom prst="rect">
            <a:avLst/>
          </a:prstGeom>
          <a:noFill/>
        </p:spPr>
        <p:txBody>
          <a:bodyPr wrap="square" lIns="0" rIns="0" tIns="0" bIns="0" anchor="t"/>
          <a:lstStyle/>
          <a:p>
            <a:pPr algn="l">
              <a:lnSpc>
                <a:spcPts val="1159"/>
              </a:lnSpc>
              <a:spcBef>
                <a:spcPts val="0"/>
              </a:spcBef>
              <a:spcAft>
                <a:spcPts val="0"/>
              </a:spcAft>
            </a:pPr>
            <a:r>
              <a:rPr sz="839" b="0" i="0">
                <a:solidFill>
                  <a:srgbClr val="FFFFFF"/>
                </a:solidFill>
                <a:latin typeface="Source Sans 3"/>
              </a:rPr>
              <a:t>The Soil Food Web Foundation was established in October 2025 to carry forward the life's work of Dr. Elaine Ingham, the pioneering scientist whose research transformed our understanding of soil biology and its central role in food production, ecosystem health, and planetary regeneration.</a:t>
            </a:r>
          </a:p>
        </p:txBody>
      </p:sp>
      <p:sp>
        <p:nvSpPr>
          <p:cNvPr id="7" name="TextBox 6"/>
          <p:cNvSpPr txBox="1"/>
          <p:nvPr/>
        </p:nvSpPr>
        <p:spPr>
          <a:xfrm>
            <a:off x="370240" y="3126711"/>
            <a:ext cx="2917027" cy="908822"/>
          </a:xfrm>
          <a:prstGeom prst="rect">
            <a:avLst/>
          </a:prstGeom>
          <a:noFill/>
        </p:spPr>
        <p:txBody>
          <a:bodyPr wrap="square" lIns="0" rIns="0" tIns="0" bIns="0" anchor="t"/>
          <a:lstStyle/>
          <a:p>
            <a:pPr algn="l">
              <a:lnSpc>
                <a:spcPts val="1159"/>
              </a:lnSpc>
              <a:spcBef>
                <a:spcPts val="0"/>
              </a:spcBef>
              <a:spcAft>
                <a:spcPts val="0"/>
              </a:spcAft>
            </a:pPr>
            <a:r>
              <a:rPr sz="839" b="0" i="0">
                <a:solidFill>
                  <a:srgbClr val="FFFFFF"/>
                </a:solidFill>
                <a:latin typeface="Source Sans 3"/>
              </a:rPr>
              <a:t>She passed away in February 2026, and the work she started continues through the Foundation, the school that is a part of it, and Soil Food Web practitioners in more than 132 countries, who are helping to restore the world's soils.</a:t>
            </a:r>
          </a:p>
        </p:txBody>
      </p:sp>
      <p:sp>
        <p:nvSpPr>
          <p:cNvPr id="8" name="TextBox 7"/>
          <p:cNvSpPr txBox="1"/>
          <p:nvPr/>
        </p:nvSpPr>
        <p:spPr>
          <a:xfrm>
            <a:off x="1567921" y="4057526"/>
            <a:ext cx="1419240" cy="540776"/>
          </a:xfrm>
          <a:prstGeom prst="rect">
            <a:avLst/>
          </a:prstGeom>
          <a:noFill/>
        </p:spPr>
        <p:txBody>
          <a:bodyPr wrap="square" lIns="0" rIns="0" tIns="0" bIns="0" anchor="t"/>
          <a:lstStyle/>
          <a:p>
            <a:pPr algn="l">
              <a:lnSpc>
                <a:spcPts val="844"/>
              </a:lnSpc>
              <a:spcBef>
                <a:spcPts val="0"/>
              </a:spcBef>
              <a:spcAft>
                <a:spcPts val="0"/>
              </a:spcAft>
            </a:pPr>
            <a:r>
              <a:rPr sz="669" b="0" i="1">
                <a:solidFill>
                  <a:srgbClr val="FFFFFF">
                    <a:alpha val="70000"/>
                  </a:srgbClr>
                </a:solidFill>
                <a:latin typeface="Source Sans 3"/>
              </a:rPr>
              <a:t>Examine Dr. Ingham's publications here:</a:t>
            </a:r>
          </a:p>
          <a:p>
            <a:pPr algn="l">
              <a:lnSpc>
                <a:spcPts val="844"/>
              </a:lnSpc>
              <a:spcBef>
                <a:spcPts val="0"/>
              </a:spcBef>
              <a:spcAft>
                <a:spcPts val="0"/>
              </a:spcAft>
            </a:pPr>
            <a:r>
              <a:rPr sz="710" b="0" i="1">
                <a:solidFill>
                  <a:srgbClr val="FFFFFF"/>
                </a:solidFill>
                <a:latin typeface="Source Sans 3"/>
              </a:rPr>
              <a:t>sfw.one/publications</a:t>
            </a:r>
          </a:p>
        </p:txBody>
      </p:sp>
      <p:sp>
        <p:nvSpPr>
          <p:cNvPr id="9" name="TextBox 8"/>
          <p:cNvSpPr txBox="1"/>
          <p:nvPr/>
        </p:nvSpPr>
        <p:spPr>
          <a:xfrm>
            <a:off x="508132" y="4718018"/>
            <a:ext cx="2660446" cy="484540"/>
          </a:xfrm>
          <a:prstGeom prst="rect">
            <a:avLst/>
          </a:prstGeom>
          <a:noFill/>
        </p:spPr>
        <p:txBody>
          <a:bodyPr wrap="square" lIns="0" rIns="0" tIns="0" bIns="0" anchor="t"/>
          <a:lstStyle/>
          <a:p>
            <a:pPr algn="l">
              <a:lnSpc>
                <a:spcPts val="980"/>
              </a:lnSpc>
              <a:spcBef>
                <a:spcPts val="0"/>
              </a:spcBef>
              <a:spcAft>
                <a:spcPts val="0"/>
              </a:spcAft>
            </a:pPr>
            <a:r>
              <a:rPr sz="759" b="1" i="0" spc="46">
                <a:solidFill>
                  <a:srgbClr val="FFFFFF"/>
                </a:solidFill>
                <a:latin typeface="Source Sans 3"/>
              </a:rPr>
              <a:t>WHY THIS MATTERS FOR CLIMATE</a:t>
            </a:r>
          </a:p>
        </p:txBody>
      </p:sp>
      <p:sp>
        <p:nvSpPr>
          <p:cNvPr id="10" name="TextBox 9"/>
          <p:cNvSpPr txBox="1"/>
          <p:nvPr/>
        </p:nvSpPr>
        <p:spPr>
          <a:xfrm>
            <a:off x="1531437" y="6629949"/>
            <a:ext cx="1755830" cy="584941"/>
          </a:xfrm>
          <a:prstGeom prst="rect">
            <a:avLst/>
          </a:prstGeom>
          <a:noFill/>
        </p:spPr>
        <p:txBody>
          <a:bodyPr wrap="square" lIns="0" rIns="0" tIns="0" bIns="0" anchor="t"/>
          <a:lstStyle/>
          <a:p>
            <a:pPr algn="l">
              <a:lnSpc>
                <a:spcPts val="1044"/>
              </a:lnSpc>
              <a:spcBef>
                <a:spcPts val="0"/>
              </a:spcBef>
              <a:spcAft>
                <a:spcPts val="0"/>
              </a:spcAft>
            </a:pPr>
            <a:r>
              <a:rPr sz="900" b="1" i="0">
                <a:solidFill>
                  <a:srgbClr val="FFFFFF"/>
                </a:solidFill>
                <a:latin typeface="Montserrat"/>
              </a:rPr>
              <a:t>Join our free online community</a:t>
            </a:r>
          </a:p>
        </p:txBody>
      </p:sp>
      <p:sp>
        <p:nvSpPr>
          <p:cNvPr id="11" name="TextBox 10"/>
          <p:cNvSpPr txBox="1"/>
          <p:nvPr/>
        </p:nvSpPr>
        <p:spPr>
          <a:xfrm>
            <a:off x="1531437" y="6922854"/>
            <a:ext cx="1755830" cy="800465"/>
          </a:xfrm>
          <a:prstGeom prst="rect">
            <a:avLst/>
          </a:prstGeom>
          <a:noFill/>
        </p:spPr>
        <p:txBody>
          <a:bodyPr wrap="square" lIns="0" rIns="0" tIns="0" bIns="0" anchor="t"/>
          <a:lstStyle/>
          <a:p>
            <a:pPr algn="l">
              <a:lnSpc>
                <a:spcPts val="947"/>
              </a:lnSpc>
              <a:spcBef>
                <a:spcPts val="0"/>
              </a:spcBef>
              <a:spcAft>
                <a:spcPts val="0"/>
              </a:spcAft>
            </a:pPr>
            <a:r>
              <a:rPr sz="740" b="0" i="0">
                <a:solidFill>
                  <a:srgbClr val="FFFFFF">
                    <a:alpha val="86000"/>
                  </a:srgbClr>
                </a:solidFill>
                <a:latin typeface="Source Sans 3"/>
              </a:rPr>
              <a:t>Learn from and connect with other passionate people in the regenerative agriculture space. You can also register for our newsletter and webinar series via the link in this QR code.</a:t>
            </a:r>
          </a:p>
        </p:txBody>
      </p:sp>
      <p:sp>
        <p:nvSpPr>
          <p:cNvPr id="12" name="TextBox 11"/>
          <p:cNvSpPr txBox="1"/>
          <p:nvPr/>
        </p:nvSpPr>
        <p:spPr>
          <a:xfrm>
            <a:off x="1531437" y="7431521"/>
            <a:ext cx="1755830" cy="442569"/>
          </a:xfrm>
          <a:prstGeom prst="rect">
            <a:avLst/>
          </a:prstGeom>
          <a:noFill/>
        </p:spPr>
        <p:txBody>
          <a:bodyPr wrap="square" lIns="0" rIns="0" tIns="0" bIns="0" anchor="t"/>
          <a:lstStyle/>
          <a:p>
            <a:pPr algn="l">
              <a:lnSpc>
                <a:spcPts val="966"/>
              </a:lnSpc>
              <a:spcBef>
                <a:spcPts val="0"/>
              </a:spcBef>
              <a:spcAft>
                <a:spcPts val="0"/>
              </a:spcAft>
            </a:pPr>
            <a:r>
              <a:rPr sz="699" b="0" i="1">
                <a:solidFill>
                  <a:srgbClr val="FFFFFF">
                    <a:alpha val="70000"/>
                  </a:srgbClr>
                </a:solidFill>
                <a:latin typeface="Source Sans 3"/>
              </a:rPr>
              <a:t>sfw.one/brochure-webinar</a:t>
            </a:r>
          </a:p>
        </p:txBody>
      </p:sp>
      <p:sp>
        <p:nvSpPr>
          <p:cNvPr id="13" name="TextBox 12"/>
          <p:cNvSpPr txBox="1"/>
          <p:nvPr/>
        </p:nvSpPr>
        <p:spPr>
          <a:xfrm>
            <a:off x="3799240" y="358969"/>
            <a:ext cx="2917027" cy="432145"/>
          </a:xfrm>
          <a:prstGeom prst="rect">
            <a:avLst/>
          </a:prstGeom>
          <a:noFill/>
        </p:spPr>
        <p:txBody>
          <a:bodyPr wrap="square" lIns="0" rIns="0" tIns="0" bIns="0" anchor="t"/>
          <a:lstStyle/>
          <a:p>
            <a:pPr algn="l">
              <a:lnSpc>
                <a:spcPts val="883"/>
              </a:lnSpc>
              <a:spcBef>
                <a:spcPts val="0"/>
              </a:spcBef>
              <a:spcAft>
                <a:spcPts val="0"/>
              </a:spcAft>
            </a:pPr>
            <a:r>
              <a:rPr sz="639" b="1" i="0" spc="96">
                <a:solidFill>
                  <a:srgbClr val="FFFFFF">
                    <a:alpha val="86000"/>
                  </a:srgbClr>
                </a:solidFill>
                <a:latin typeface="Montserrat"/>
              </a:rPr>
              <a:t>RESEARCH</a:t>
            </a:r>
          </a:p>
        </p:txBody>
      </p:sp>
      <p:sp>
        <p:nvSpPr>
          <p:cNvPr id="14" name="TextBox 13"/>
          <p:cNvSpPr txBox="1"/>
          <p:nvPr/>
        </p:nvSpPr>
        <p:spPr>
          <a:xfrm>
            <a:off x="3799240" y="532232"/>
            <a:ext cx="2917027" cy="693298"/>
          </a:xfrm>
          <a:prstGeom prst="rect">
            <a:avLst/>
          </a:prstGeom>
          <a:noFill/>
        </p:spPr>
        <p:txBody>
          <a:bodyPr wrap="square" lIns="0" rIns="0" tIns="0" bIns="0" anchor="t"/>
          <a:lstStyle/>
          <a:p>
            <a:pPr algn="l">
              <a:lnSpc>
                <a:spcPts val="1470"/>
              </a:lnSpc>
              <a:spcBef>
                <a:spcPts val="0"/>
              </a:spcBef>
              <a:spcAft>
                <a:spcPts val="0"/>
              </a:spcAft>
            </a:pPr>
            <a:r>
              <a:rPr sz="1400" b="1" i="0" spc="-8">
                <a:solidFill>
                  <a:srgbClr val="FFFFFF"/>
                </a:solidFill>
                <a:latin typeface="Montserrat"/>
              </a:rPr>
              <a:t>The science is open, and anyone can test it.</a:t>
            </a:r>
          </a:p>
        </p:txBody>
      </p:sp>
      <p:sp>
        <p:nvSpPr>
          <p:cNvPr id="15" name="TextBox 14"/>
          <p:cNvSpPr txBox="1"/>
          <p:nvPr/>
        </p:nvSpPr>
        <p:spPr>
          <a:xfrm>
            <a:off x="3799240" y="2128416"/>
            <a:ext cx="2917027" cy="427207"/>
          </a:xfrm>
          <a:prstGeom prst="rect">
            <a:avLst/>
          </a:prstGeom>
          <a:noFill/>
        </p:spPr>
        <p:txBody>
          <a:bodyPr wrap="square" lIns="0" rIns="0" tIns="0" bIns="0" anchor="t"/>
          <a:lstStyle/>
          <a:p>
            <a:pPr algn="l">
              <a:lnSpc>
                <a:spcPts val="844"/>
              </a:lnSpc>
              <a:spcBef>
                <a:spcPts val="0"/>
              </a:spcBef>
              <a:spcAft>
                <a:spcPts val="0"/>
              </a:spcAft>
            </a:pPr>
            <a:r>
              <a:rPr sz="669" b="0" i="1">
                <a:solidFill>
                  <a:srgbClr val="6A665C"/>
                </a:solidFill>
                <a:latin typeface="Source Sans 3"/>
              </a:rPr>
              <a:t>Soil samples beside the microscope.</a:t>
            </a:r>
          </a:p>
        </p:txBody>
      </p:sp>
      <p:sp>
        <p:nvSpPr>
          <p:cNvPr id="16" name="TextBox 15"/>
          <p:cNvSpPr txBox="1"/>
          <p:nvPr/>
        </p:nvSpPr>
        <p:spPr>
          <a:xfrm>
            <a:off x="3799240" y="2432334"/>
            <a:ext cx="2917027" cy="575980"/>
          </a:xfrm>
          <a:prstGeom prst="rect">
            <a:avLst/>
          </a:prstGeom>
          <a:noFill/>
        </p:spPr>
        <p:txBody>
          <a:bodyPr wrap="square" lIns="0" rIns="0" tIns="0" bIns="0" anchor="t"/>
          <a:lstStyle/>
          <a:p>
            <a:pPr algn="l">
              <a:lnSpc>
                <a:spcPts val="1008"/>
              </a:lnSpc>
              <a:spcBef>
                <a:spcPts val="0"/>
              </a:spcBef>
              <a:spcAft>
                <a:spcPts val="0"/>
              </a:spcAft>
            </a:pPr>
            <a:r>
              <a:rPr sz="839" b="1" i="0">
                <a:solidFill>
                  <a:srgbClr val="4F3433"/>
                </a:solidFill>
                <a:latin typeface="Montserrat"/>
              </a:rPr>
              <a:t>What biologically complete, properly-structured soil does</a:t>
            </a:r>
          </a:p>
        </p:txBody>
      </p:sp>
      <p:sp>
        <p:nvSpPr>
          <p:cNvPr id="17" name="TextBox 16"/>
          <p:cNvSpPr txBox="1"/>
          <p:nvPr/>
        </p:nvSpPr>
        <p:spPr>
          <a:xfrm>
            <a:off x="3799240" y="3126814"/>
            <a:ext cx="660836" cy="502462"/>
          </a:xfrm>
          <a:prstGeom prst="rect">
            <a:avLst/>
          </a:prstGeom>
          <a:noFill/>
        </p:spPr>
        <p:txBody>
          <a:bodyPr wrap="square" lIns="0" rIns="0" tIns="0" bIns="0" anchor="t"/>
          <a:lstStyle/>
          <a:p>
            <a:pPr algn="ctr">
              <a:lnSpc>
                <a:spcPts val="719"/>
              </a:lnSpc>
              <a:spcBef>
                <a:spcPts val="0"/>
              </a:spcBef>
              <a:spcAft>
                <a:spcPts val="0"/>
              </a:spcAft>
            </a:pPr>
            <a:r>
              <a:rPr sz="620" b="1" i="0" spc="50">
                <a:solidFill>
                  <a:srgbClr val="4F3433"/>
                </a:solidFill>
                <a:latin typeface="Montserrat"/>
              </a:rPr>
              <a:t>NUTRIENT</a:t>
            </a:r>
          </a:p>
          <a:p>
            <a:pPr algn="ctr">
              <a:lnSpc>
                <a:spcPts val="719"/>
              </a:lnSpc>
              <a:spcBef>
                <a:spcPts val="0"/>
              </a:spcBef>
              <a:spcAft>
                <a:spcPts val="0"/>
              </a:spcAft>
            </a:pPr>
            <a:r>
              <a:rPr sz="620" b="1" i="0" spc="50">
                <a:solidFill>
                  <a:srgbClr val="4F3433"/>
                </a:solidFill>
                <a:latin typeface="Montserrat"/>
              </a:rPr>
              <a:t>CYCLING</a:t>
            </a:r>
          </a:p>
        </p:txBody>
      </p:sp>
      <p:sp>
        <p:nvSpPr>
          <p:cNvPr id="18" name="TextBox 17"/>
          <p:cNvSpPr txBox="1"/>
          <p:nvPr/>
        </p:nvSpPr>
        <p:spPr>
          <a:xfrm>
            <a:off x="4551426" y="3126814"/>
            <a:ext cx="660836" cy="593719"/>
          </a:xfrm>
          <a:prstGeom prst="rect">
            <a:avLst/>
          </a:prstGeom>
          <a:noFill/>
        </p:spPr>
        <p:txBody>
          <a:bodyPr wrap="square" lIns="0" rIns="0" tIns="0" bIns="0" anchor="t"/>
          <a:lstStyle/>
          <a:p>
            <a:pPr algn="ctr">
              <a:lnSpc>
                <a:spcPts val="719"/>
              </a:lnSpc>
              <a:spcBef>
                <a:spcPts val="0"/>
              </a:spcBef>
              <a:spcAft>
                <a:spcPts val="0"/>
              </a:spcAft>
            </a:pPr>
            <a:r>
              <a:rPr sz="620" b="1" i="0" spc="50">
                <a:solidFill>
                  <a:srgbClr val="4F3433"/>
                </a:solidFill>
                <a:latin typeface="Montserrat"/>
              </a:rPr>
              <a:t>CREATES SOIL</a:t>
            </a:r>
          </a:p>
          <a:p>
            <a:pPr algn="ctr">
              <a:lnSpc>
                <a:spcPts val="719"/>
              </a:lnSpc>
              <a:spcBef>
                <a:spcPts val="0"/>
              </a:spcBef>
              <a:spcAft>
                <a:spcPts val="0"/>
              </a:spcAft>
            </a:pPr>
            <a:r>
              <a:rPr sz="620" b="1" i="0" spc="50">
                <a:solidFill>
                  <a:srgbClr val="4F3433"/>
                </a:solidFill>
                <a:latin typeface="Montserrat"/>
              </a:rPr>
              <a:t>STRUCTURE</a:t>
            </a:r>
          </a:p>
        </p:txBody>
      </p:sp>
      <p:sp>
        <p:nvSpPr>
          <p:cNvPr id="19" name="TextBox 18"/>
          <p:cNvSpPr txBox="1"/>
          <p:nvPr/>
        </p:nvSpPr>
        <p:spPr>
          <a:xfrm>
            <a:off x="5303611" y="3126814"/>
            <a:ext cx="660836" cy="593719"/>
          </a:xfrm>
          <a:prstGeom prst="rect">
            <a:avLst/>
          </a:prstGeom>
          <a:noFill/>
        </p:spPr>
        <p:txBody>
          <a:bodyPr wrap="square" lIns="0" rIns="0" tIns="0" bIns="0" anchor="t"/>
          <a:lstStyle/>
          <a:p>
            <a:pPr algn="ctr">
              <a:lnSpc>
                <a:spcPts val="719"/>
              </a:lnSpc>
              <a:spcBef>
                <a:spcPts val="0"/>
              </a:spcBef>
              <a:spcAft>
                <a:spcPts val="0"/>
              </a:spcAft>
            </a:pPr>
            <a:r>
              <a:rPr sz="620" b="1" i="0" spc="50">
                <a:solidFill>
                  <a:srgbClr val="4F3433"/>
                </a:solidFill>
                <a:latin typeface="Montserrat"/>
              </a:rPr>
              <a:t>INHIBITS WEED</a:t>
            </a:r>
          </a:p>
          <a:p>
            <a:pPr algn="ctr">
              <a:lnSpc>
                <a:spcPts val="719"/>
              </a:lnSpc>
              <a:spcBef>
                <a:spcPts val="0"/>
              </a:spcBef>
              <a:spcAft>
                <a:spcPts val="0"/>
              </a:spcAft>
            </a:pPr>
            <a:r>
              <a:rPr sz="620" b="1" i="0" spc="50">
                <a:solidFill>
                  <a:srgbClr val="4F3433"/>
                </a:solidFill>
                <a:latin typeface="Montserrat"/>
              </a:rPr>
              <a:t>PRESSURE</a:t>
            </a:r>
          </a:p>
        </p:txBody>
      </p:sp>
      <p:sp>
        <p:nvSpPr>
          <p:cNvPr id="20" name="TextBox 19"/>
          <p:cNvSpPr txBox="1"/>
          <p:nvPr/>
        </p:nvSpPr>
        <p:spPr>
          <a:xfrm>
            <a:off x="6055796" y="3126814"/>
            <a:ext cx="660836" cy="593719"/>
          </a:xfrm>
          <a:prstGeom prst="rect">
            <a:avLst/>
          </a:prstGeom>
          <a:noFill/>
        </p:spPr>
        <p:txBody>
          <a:bodyPr wrap="square" lIns="0" rIns="0" tIns="0" bIns="0" anchor="t"/>
          <a:lstStyle/>
          <a:p>
            <a:pPr algn="ctr">
              <a:lnSpc>
                <a:spcPts val="719"/>
              </a:lnSpc>
              <a:spcBef>
                <a:spcPts val="0"/>
              </a:spcBef>
              <a:spcAft>
                <a:spcPts val="0"/>
              </a:spcAft>
            </a:pPr>
            <a:r>
              <a:rPr sz="620" b="1" i="0" spc="50">
                <a:solidFill>
                  <a:srgbClr val="4F3433"/>
                </a:solidFill>
                <a:latin typeface="Montserrat"/>
              </a:rPr>
              <a:t>REDUCES PESTS</a:t>
            </a:r>
          </a:p>
          <a:p>
            <a:pPr algn="ctr">
              <a:lnSpc>
                <a:spcPts val="719"/>
              </a:lnSpc>
              <a:spcBef>
                <a:spcPts val="0"/>
              </a:spcBef>
              <a:spcAft>
                <a:spcPts val="0"/>
              </a:spcAft>
            </a:pPr>
            <a:r>
              <a:rPr sz="620" b="1" i="0" spc="50">
                <a:solidFill>
                  <a:srgbClr val="4F3433"/>
                </a:solidFill>
                <a:latin typeface="Montserrat"/>
              </a:rPr>
              <a:t>AND DISEASE</a:t>
            </a:r>
          </a:p>
        </p:txBody>
      </p:sp>
      <p:sp>
        <p:nvSpPr>
          <p:cNvPr id="21" name="TextBox 20"/>
          <p:cNvSpPr txBox="1"/>
          <p:nvPr/>
        </p:nvSpPr>
        <p:spPr>
          <a:xfrm>
            <a:off x="3799240" y="4355712"/>
            <a:ext cx="2917027" cy="641543"/>
          </a:xfrm>
          <a:prstGeom prst="rect">
            <a:avLst/>
          </a:prstGeom>
          <a:noFill/>
        </p:spPr>
        <p:txBody>
          <a:bodyPr wrap="square" lIns="0" rIns="0" tIns="0" bIns="0" anchor="t"/>
          <a:lstStyle/>
          <a:p>
            <a:pPr algn="l">
              <a:lnSpc>
                <a:spcPts val="844"/>
              </a:lnSpc>
              <a:spcBef>
                <a:spcPts val="0"/>
              </a:spcBef>
              <a:spcAft>
                <a:spcPts val="0"/>
              </a:spcAft>
            </a:pPr>
            <a:r>
              <a:rPr sz="669" b="0" i="1">
                <a:solidFill>
                  <a:srgbClr val="6A665C"/>
                </a:solidFill>
                <a:latin typeface="Source Sans 3"/>
              </a:rPr>
              <a:t>Testate amoeba, 40x objective. Photograph: Joy Kaluf. A microbial count names what is present in the sample and their relative numbers: bacteria, fungi, protozoa, nematodes and microarthropods.</a:t>
            </a:r>
          </a:p>
        </p:txBody>
      </p:sp>
      <p:sp>
        <p:nvSpPr>
          <p:cNvPr id="22" name="TextBox 21"/>
          <p:cNvSpPr txBox="1"/>
          <p:nvPr/>
        </p:nvSpPr>
        <p:spPr>
          <a:xfrm>
            <a:off x="3799240" y="4819101"/>
            <a:ext cx="2917027" cy="575980"/>
          </a:xfrm>
          <a:prstGeom prst="rect">
            <a:avLst/>
          </a:prstGeom>
          <a:noFill/>
        </p:spPr>
        <p:txBody>
          <a:bodyPr wrap="square" lIns="0" rIns="0" tIns="0" bIns="0" anchor="t"/>
          <a:lstStyle/>
          <a:p>
            <a:pPr algn="l">
              <a:lnSpc>
                <a:spcPts val="1008"/>
              </a:lnSpc>
              <a:spcBef>
                <a:spcPts val="0"/>
              </a:spcBef>
              <a:spcAft>
                <a:spcPts val="0"/>
              </a:spcAft>
            </a:pPr>
            <a:r>
              <a:rPr sz="839" b="1" i="0">
                <a:solidFill>
                  <a:srgbClr val="4F3433"/>
                </a:solidFill>
                <a:latin typeface="Montserrat"/>
              </a:rPr>
              <a:t>What we test before we recommend remediation plans</a:t>
            </a:r>
          </a:p>
        </p:txBody>
      </p:sp>
      <p:sp>
        <p:nvSpPr>
          <p:cNvPr id="23" name="TextBox 22"/>
          <p:cNvSpPr txBox="1"/>
          <p:nvPr/>
        </p:nvSpPr>
        <p:spPr>
          <a:xfrm>
            <a:off x="4032321" y="5100759"/>
            <a:ext cx="2683946" cy="598657"/>
          </a:xfrm>
          <a:prstGeom prst="rect">
            <a:avLst/>
          </a:prstGeom>
          <a:noFill/>
        </p:spPr>
        <p:txBody>
          <a:bodyPr wrap="square" lIns="0" rIns="0" tIns="0" bIns="0" anchor="t"/>
          <a:lstStyle/>
          <a:p>
            <a:pPr algn="l">
              <a:lnSpc>
                <a:spcPts val="1077"/>
              </a:lnSpc>
              <a:spcBef>
                <a:spcPts val="0"/>
              </a:spcBef>
              <a:spcAft>
                <a:spcPts val="0"/>
              </a:spcAft>
            </a:pPr>
            <a:r>
              <a:rPr sz="839" b="1" i="0">
                <a:solidFill>
                  <a:srgbClr val="4F3433"/>
                </a:solidFill>
                <a:latin typeface="Source Sans 3"/>
              </a:rPr>
              <a:t>Diagnostic first.</a:t>
            </a:r>
            <a:r>
              <a:rPr sz="810" b="0" i="0">
                <a:solidFill>
                  <a:srgbClr val="333130"/>
                </a:solidFill>
                <a:latin typeface="Source Sans 3"/>
              </a:rPr>
              <a:t> Every recommendation starts with a biological analysis under a microscope.</a:t>
            </a:r>
          </a:p>
        </p:txBody>
      </p:sp>
      <p:sp>
        <p:nvSpPr>
          <p:cNvPr id="24" name="TextBox 23"/>
          <p:cNvSpPr txBox="1"/>
          <p:nvPr/>
        </p:nvSpPr>
        <p:spPr>
          <a:xfrm>
            <a:off x="4032321" y="5406809"/>
            <a:ext cx="2683946" cy="598657"/>
          </a:xfrm>
          <a:prstGeom prst="rect">
            <a:avLst/>
          </a:prstGeom>
          <a:noFill/>
        </p:spPr>
        <p:txBody>
          <a:bodyPr wrap="square" lIns="0" rIns="0" tIns="0" bIns="0" anchor="t"/>
          <a:lstStyle/>
          <a:p>
            <a:pPr algn="l">
              <a:lnSpc>
                <a:spcPts val="1077"/>
              </a:lnSpc>
              <a:spcBef>
                <a:spcPts val="0"/>
              </a:spcBef>
              <a:spcAft>
                <a:spcPts val="0"/>
              </a:spcAft>
            </a:pPr>
            <a:r>
              <a:rPr sz="839" b="1" i="0">
                <a:solidFill>
                  <a:srgbClr val="4F3433"/>
                </a:solidFill>
                <a:latin typeface="Source Sans 3"/>
              </a:rPr>
              <a:t>Measurable.</a:t>
            </a:r>
            <a:r>
              <a:rPr sz="810" b="0" i="0">
                <a:solidFill>
                  <a:srgbClr val="333130"/>
                </a:solidFill>
                <a:latin typeface="Source Sans 3"/>
              </a:rPr>
              <a:t> We provide a relative count of various microbes present in your soil or compost sample.</a:t>
            </a:r>
          </a:p>
        </p:txBody>
      </p:sp>
      <p:sp>
        <p:nvSpPr>
          <p:cNvPr id="25" name="TextBox 24"/>
          <p:cNvSpPr txBox="1"/>
          <p:nvPr/>
        </p:nvSpPr>
        <p:spPr>
          <a:xfrm>
            <a:off x="4032321" y="5712767"/>
            <a:ext cx="2683946" cy="735451"/>
          </a:xfrm>
          <a:prstGeom prst="rect">
            <a:avLst/>
          </a:prstGeom>
          <a:noFill/>
        </p:spPr>
        <p:txBody>
          <a:bodyPr wrap="square" lIns="0" rIns="0" tIns="0" bIns="0" anchor="t"/>
          <a:lstStyle/>
          <a:p>
            <a:pPr algn="l">
              <a:lnSpc>
                <a:spcPts val="1077"/>
              </a:lnSpc>
              <a:spcBef>
                <a:spcPts val="0"/>
              </a:spcBef>
              <a:spcAft>
                <a:spcPts val="0"/>
              </a:spcAft>
            </a:pPr>
            <a:r>
              <a:rPr sz="839" b="1" i="0">
                <a:solidFill>
                  <a:srgbClr val="4F3433"/>
                </a:solidFill>
                <a:latin typeface="Source Sans 3"/>
              </a:rPr>
              <a:t>Adaptation and retrofitting.</a:t>
            </a:r>
            <a:r>
              <a:rPr sz="810" b="0" i="0">
                <a:solidFill>
                  <a:srgbClr val="333130"/>
                </a:solidFill>
                <a:latin typeface="Source Sans 3"/>
              </a:rPr>
              <a:t> We help you convert your current operations to the soil food web approach, at any scale.</a:t>
            </a:r>
          </a:p>
        </p:txBody>
      </p:sp>
      <p:sp>
        <p:nvSpPr>
          <p:cNvPr id="26" name="TextBox 25"/>
          <p:cNvSpPr txBox="1"/>
          <p:nvPr/>
        </p:nvSpPr>
        <p:spPr>
          <a:xfrm>
            <a:off x="3937132" y="6379936"/>
            <a:ext cx="2660446" cy="1194297"/>
          </a:xfrm>
          <a:prstGeom prst="rect">
            <a:avLst/>
          </a:prstGeom>
          <a:noFill/>
        </p:spPr>
        <p:txBody>
          <a:bodyPr wrap="square" lIns="0" rIns="0" tIns="0" bIns="0" anchor="t"/>
          <a:lstStyle/>
          <a:p>
            <a:pPr algn="l">
              <a:lnSpc>
                <a:spcPts val="1148"/>
              </a:lnSpc>
              <a:spcBef>
                <a:spcPts val="0"/>
              </a:spcBef>
              <a:spcAft>
                <a:spcPts val="0"/>
              </a:spcAft>
            </a:pPr>
            <a:r>
              <a:rPr sz="890" b="0" i="0">
                <a:solidFill>
                  <a:srgbClr val="333130"/>
                </a:solidFill>
                <a:latin typeface="Source Sans 3"/>
              </a:rPr>
              <a:t>We train people who help farmers to transition away from using chemicals, to using biology. This results in significant benefits to the farmer and to the environment, as well as to the consumer. The method has been proven effective on 6 continents and across all soil types, as evidenced by our ever-increasing case study library.</a:t>
            </a:r>
          </a:p>
        </p:txBody>
      </p:sp>
      <p:sp>
        <p:nvSpPr>
          <p:cNvPr id="27" name="TextBox 26"/>
          <p:cNvSpPr txBox="1"/>
          <p:nvPr/>
        </p:nvSpPr>
        <p:spPr>
          <a:xfrm>
            <a:off x="7228240" y="-14289"/>
            <a:ext cx="2688427" cy="432145"/>
          </a:xfrm>
          <a:prstGeom prst="rect">
            <a:avLst/>
          </a:prstGeom>
          <a:noFill/>
        </p:spPr>
        <p:txBody>
          <a:bodyPr wrap="square" lIns="0" rIns="0" tIns="0" bIns="0" anchor="t"/>
          <a:lstStyle/>
          <a:p>
            <a:pPr algn="l">
              <a:lnSpc>
                <a:spcPts val="883"/>
              </a:lnSpc>
              <a:spcBef>
                <a:spcPts val="0"/>
              </a:spcBef>
              <a:spcAft>
                <a:spcPts val="0"/>
              </a:spcAft>
            </a:pPr>
            <a:r>
              <a:rPr sz="639" b="1" i="0" spc="96">
                <a:solidFill>
                  <a:srgbClr val="FFFFFF">
                    <a:alpha val="86000"/>
                  </a:srgbClr>
                </a:solidFill>
                <a:latin typeface="Montserrat"/>
              </a:rPr>
              <a:t>PRACTICE</a:t>
            </a:r>
          </a:p>
        </p:txBody>
      </p:sp>
      <p:sp>
        <p:nvSpPr>
          <p:cNvPr id="28" name="TextBox 27"/>
          <p:cNvSpPr txBox="1"/>
          <p:nvPr/>
        </p:nvSpPr>
        <p:spPr>
          <a:xfrm>
            <a:off x="7228240" y="158974"/>
            <a:ext cx="2688427" cy="1066556"/>
          </a:xfrm>
          <a:prstGeom prst="rect">
            <a:avLst/>
          </a:prstGeom>
          <a:noFill/>
        </p:spPr>
        <p:txBody>
          <a:bodyPr wrap="square" lIns="0" rIns="0" tIns="0" bIns="0" anchor="t"/>
          <a:lstStyle/>
          <a:p>
            <a:pPr algn="l">
              <a:lnSpc>
                <a:spcPts val="1470"/>
              </a:lnSpc>
              <a:spcBef>
                <a:spcPts val="0"/>
              </a:spcBef>
              <a:spcAft>
                <a:spcPts val="0"/>
              </a:spcAft>
            </a:pPr>
            <a:r>
              <a:rPr sz="1400" b="1" i="0" spc="-8">
                <a:solidFill>
                  <a:srgbClr val="FFFFFF"/>
                </a:solidFill>
                <a:latin typeface="Montserrat"/>
              </a:rPr>
              <a:t>Growers are already implementing the soil food web approach, at every scale.</a:t>
            </a:r>
          </a:p>
        </p:txBody>
      </p:sp>
      <p:sp>
        <p:nvSpPr>
          <p:cNvPr id="29" name="TextBox 28"/>
          <p:cNvSpPr txBox="1"/>
          <p:nvPr/>
        </p:nvSpPr>
        <p:spPr>
          <a:xfrm>
            <a:off x="7228240" y="2128416"/>
            <a:ext cx="2706715" cy="427207"/>
          </a:xfrm>
          <a:prstGeom prst="rect">
            <a:avLst/>
          </a:prstGeom>
          <a:noFill/>
        </p:spPr>
        <p:txBody>
          <a:bodyPr wrap="square" lIns="0" rIns="0" tIns="0" bIns="0" anchor="t"/>
          <a:lstStyle/>
          <a:p>
            <a:pPr algn="l">
              <a:lnSpc>
                <a:spcPts val="844"/>
              </a:lnSpc>
              <a:spcBef>
                <a:spcPts val="0"/>
              </a:spcBef>
              <a:spcAft>
                <a:spcPts val="0"/>
              </a:spcAft>
            </a:pPr>
            <a:r>
              <a:rPr sz="669" b="0" i="1">
                <a:solidFill>
                  <a:srgbClr val="6A665C"/>
                </a:solidFill>
                <a:latin typeface="Source Sans 3"/>
              </a:rPr>
              <a:t>Agroecology plots at Rancho Cacachilas.</a:t>
            </a:r>
          </a:p>
        </p:txBody>
      </p:sp>
      <p:sp>
        <p:nvSpPr>
          <p:cNvPr id="30" name="TextBox 29"/>
          <p:cNvSpPr txBox="1"/>
          <p:nvPr/>
        </p:nvSpPr>
        <p:spPr>
          <a:xfrm>
            <a:off x="7228240" y="2424333"/>
            <a:ext cx="2688427" cy="1289761"/>
          </a:xfrm>
          <a:prstGeom prst="rect">
            <a:avLst/>
          </a:prstGeom>
          <a:noFill/>
        </p:spPr>
        <p:txBody>
          <a:bodyPr wrap="square" lIns="0" rIns="0" tIns="0" bIns="0" anchor="t"/>
          <a:lstStyle/>
          <a:p>
            <a:pPr algn="l">
              <a:lnSpc>
                <a:spcPts val="1274"/>
              </a:lnSpc>
              <a:spcBef>
                <a:spcPts val="0"/>
              </a:spcBef>
              <a:spcAft>
                <a:spcPts val="0"/>
              </a:spcAft>
            </a:pPr>
            <a:r>
              <a:rPr sz="980" b="0" i="0">
                <a:solidFill>
                  <a:srgbClr val="333130"/>
                </a:solidFill>
                <a:latin typeface="Source Sans 3"/>
              </a:rPr>
              <a:t>The basic methodology is universal; the application is based upon locally-sourced materials. Our case studies and field trials demonstrate the efficacy across a range of soil types at every scale from market gardens to massive industrial farming operations.</a:t>
            </a:r>
          </a:p>
        </p:txBody>
      </p:sp>
      <p:sp>
        <p:nvSpPr>
          <p:cNvPr id="31" name="TextBox 30"/>
          <p:cNvSpPr txBox="1"/>
          <p:nvPr/>
        </p:nvSpPr>
        <p:spPr>
          <a:xfrm>
            <a:off x="7228240" y="3447299"/>
            <a:ext cx="2688427" cy="1350385"/>
          </a:xfrm>
          <a:prstGeom prst="rect">
            <a:avLst/>
          </a:prstGeom>
          <a:noFill/>
        </p:spPr>
        <p:txBody>
          <a:bodyPr wrap="square" lIns="0" rIns="0" tIns="0" bIns="0" anchor="t"/>
          <a:lstStyle/>
          <a:p>
            <a:pPr algn="l">
              <a:lnSpc>
                <a:spcPts val="1159"/>
              </a:lnSpc>
              <a:spcBef>
                <a:spcPts val="0"/>
              </a:spcBef>
              <a:spcAft>
                <a:spcPts val="0"/>
              </a:spcAft>
            </a:pPr>
            <a:r>
              <a:rPr sz="839" b="0" i="0">
                <a:solidFill>
                  <a:srgbClr val="333130"/>
                </a:solidFill>
                <a:latin typeface="Source Sans 3"/>
              </a:rPr>
              <a:t>Nick Padwick farms four thousand acres in Norfolk, England. Roberto Silva works a hundred and forty in Piura, Peru. Jenn Sirp grows on a quarter acre in California. Check out their individual accounts of how the soil food web approach changed their operations through reducing inputs, creating better outputs and improving their bottom lines.</a:t>
            </a:r>
          </a:p>
        </p:txBody>
      </p:sp>
      <p:sp>
        <p:nvSpPr>
          <p:cNvPr id="32" name="TextBox 31"/>
          <p:cNvSpPr txBox="1"/>
          <p:nvPr/>
        </p:nvSpPr>
        <p:spPr>
          <a:xfrm>
            <a:off x="7228240" y="4532326"/>
            <a:ext cx="2688427" cy="1203167"/>
          </a:xfrm>
          <a:prstGeom prst="rect">
            <a:avLst/>
          </a:prstGeom>
          <a:noFill/>
        </p:spPr>
        <p:txBody>
          <a:bodyPr wrap="square" lIns="0" rIns="0" tIns="0" bIns="0" anchor="t"/>
          <a:lstStyle/>
          <a:p>
            <a:pPr algn="l">
              <a:lnSpc>
                <a:spcPts val="1159"/>
              </a:lnSpc>
              <a:spcBef>
                <a:spcPts val="0"/>
              </a:spcBef>
              <a:spcAft>
                <a:spcPts val="0"/>
              </a:spcAft>
            </a:pPr>
            <a:r>
              <a:rPr sz="839" b="0" i="0">
                <a:solidFill>
                  <a:srgbClr val="333130"/>
                </a:solidFill>
                <a:latin typeface="Source Sans 3"/>
              </a:rPr>
              <a:t>Though the projects run from backyard gardens to expansive public parks, the same process is applicable. The steps are the same at every scale: look at the biology under a microscope, add what is missing to rebalance the microbial content, then measure again to confirm microbial counts are going in the expected directions.</a:t>
            </a:r>
          </a:p>
        </p:txBody>
      </p:sp>
      <p:sp>
        <p:nvSpPr>
          <p:cNvPr id="33" name="TextBox 32"/>
          <p:cNvSpPr txBox="1"/>
          <p:nvPr/>
        </p:nvSpPr>
        <p:spPr>
          <a:xfrm>
            <a:off x="7228240" y="5470318"/>
            <a:ext cx="2688427" cy="908822"/>
          </a:xfrm>
          <a:prstGeom prst="rect">
            <a:avLst/>
          </a:prstGeom>
          <a:noFill/>
        </p:spPr>
        <p:txBody>
          <a:bodyPr wrap="square" lIns="0" rIns="0" tIns="0" bIns="0" anchor="t"/>
          <a:lstStyle/>
          <a:p>
            <a:pPr algn="l">
              <a:lnSpc>
                <a:spcPts val="1159"/>
              </a:lnSpc>
              <a:spcBef>
                <a:spcPts val="0"/>
              </a:spcBef>
              <a:spcAft>
                <a:spcPts val="0"/>
              </a:spcAft>
            </a:pPr>
            <a:r>
              <a:rPr sz="839" b="0" i="0">
                <a:solidFill>
                  <a:srgbClr val="333130"/>
                </a:solidFill>
                <a:latin typeface="Source Sans 3"/>
              </a:rPr>
              <a:t>We partner with growers to teach them microscopy and biological compost creation and application so they can implement the approach where they farm, and document the impacts.</a:t>
            </a:r>
          </a:p>
        </p:txBody>
      </p:sp>
      <p:sp>
        <p:nvSpPr>
          <p:cNvPr id="34" name="TextBox 33"/>
          <p:cNvSpPr txBox="1"/>
          <p:nvPr/>
        </p:nvSpPr>
        <p:spPr>
          <a:xfrm>
            <a:off x="8389437" y="6756136"/>
            <a:ext cx="1527230" cy="452536"/>
          </a:xfrm>
          <a:prstGeom prst="rect">
            <a:avLst/>
          </a:prstGeom>
          <a:noFill/>
        </p:spPr>
        <p:txBody>
          <a:bodyPr wrap="square" lIns="0" rIns="0" tIns="0" bIns="0" anchor="t"/>
          <a:lstStyle/>
          <a:p>
            <a:pPr algn="l">
              <a:lnSpc>
                <a:spcPts val="1044"/>
              </a:lnSpc>
              <a:spcBef>
                <a:spcPts val="0"/>
              </a:spcBef>
              <a:spcAft>
                <a:spcPts val="0"/>
              </a:spcAft>
            </a:pPr>
            <a:r>
              <a:rPr sz="900" b="1" i="0">
                <a:solidFill>
                  <a:srgbClr val="4F3433"/>
                </a:solidFill>
                <a:latin typeface="Montserrat"/>
              </a:rPr>
              <a:t>Watch the case studies</a:t>
            </a:r>
          </a:p>
        </p:txBody>
      </p:sp>
      <p:sp>
        <p:nvSpPr>
          <p:cNvPr id="35" name="TextBox 34"/>
          <p:cNvSpPr txBox="1"/>
          <p:nvPr/>
        </p:nvSpPr>
        <p:spPr>
          <a:xfrm>
            <a:off x="8389437" y="6916636"/>
            <a:ext cx="1527230" cy="680313"/>
          </a:xfrm>
          <a:prstGeom prst="rect">
            <a:avLst/>
          </a:prstGeom>
          <a:noFill/>
        </p:spPr>
        <p:txBody>
          <a:bodyPr wrap="square" lIns="0" rIns="0" tIns="0" bIns="0" anchor="t"/>
          <a:lstStyle/>
          <a:p>
            <a:pPr algn="l">
              <a:lnSpc>
                <a:spcPts val="947"/>
              </a:lnSpc>
              <a:spcBef>
                <a:spcPts val="0"/>
              </a:spcBef>
              <a:spcAft>
                <a:spcPts val="0"/>
              </a:spcAft>
            </a:pPr>
            <a:r>
              <a:rPr sz="740" b="0" i="0">
                <a:solidFill>
                  <a:srgbClr val="4A463F"/>
                </a:solidFill>
                <a:latin typeface="Source Sans 3"/>
              </a:rPr>
              <a:t>Growers filming their own soil, crop by crop and climate by climate. Start with one that looks like yours.</a:t>
            </a:r>
          </a:p>
        </p:txBody>
      </p:sp>
      <p:sp>
        <p:nvSpPr>
          <p:cNvPr id="36" name="TextBox 35"/>
          <p:cNvSpPr txBox="1"/>
          <p:nvPr/>
        </p:nvSpPr>
        <p:spPr>
          <a:xfrm>
            <a:off x="8389437" y="7305151"/>
            <a:ext cx="1527230" cy="442569"/>
          </a:xfrm>
          <a:prstGeom prst="rect">
            <a:avLst/>
          </a:prstGeom>
          <a:noFill/>
        </p:spPr>
        <p:txBody>
          <a:bodyPr wrap="square" lIns="0" rIns="0" tIns="0" bIns="0" anchor="t"/>
          <a:lstStyle/>
          <a:p>
            <a:pPr algn="l">
              <a:lnSpc>
                <a:spcPts val="966"/>
              </a:lnSpc>
              <a:spcBef>
                <a:spcPts val="0"/>
              </a:spcBef>
              <a:spcAft>
                <a:spcPts val="0"/>
              </a:spcAft>
            </a:pPr>
            <a:r>
              <a:rPr sz="699" b="0" i="1">
                <a:solidFill>
                  <a:srgbClr val="6A665C"/>
                </a:solidFill>
                <a:latin typeface="Source Sans 3"/>
              </a:rPr>
              <a:t>sfw.one/brochure-casestudies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