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out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480401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Anyone, anywhere, can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learn to restore living soil.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1585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A mentor teaching on working land.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324481"/>
            <a:ext cx="2730306" cy="112818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From curiosity through to professional practice.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Everyone starts with the Foundation Courses,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where you go next depends on whether you want to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apply your skills to your own land or help others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ource Sans 3"/>
              </a:rPr>
              <a:t>improve their soils.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8165" y="3218170"/>
            <a:ext cx="118716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Foundation Courses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940" y="3396287"/>
            <a:ext cx="2692176" cy="9882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You'll learn the science of the soil food web, the organisms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their roles, use of a microscope for biological analyses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and how biological amendments are made and applied. They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online, self-paced, take about 150 hours to complete, and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are a prerequisite to any Advanced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165" y="4211117"/>
            <a:ext cx="1215694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Advanced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940" y="4389326"/>
            <a:ext cx="2758836" cy="8545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Learn the practical application of the theory you learned in the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Foundation Courses through mentor-led Advanced Programs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Soil Microscopy, BioComplete™ Compost Production,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Biological Liquid Amendments and Field Trial.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165" y="5070470"/>
            <a:ext cx="136812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Accelerator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940" y="5248587"/>
            <a:ext cx="276834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The Advanced Programs as a group on working land, the whole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method at once. Held periodically with a host partner. Dates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on the school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165" y="5796138"/>
            <a:ext cx="891905" cy="44805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FFFFFF"/>
                </a:solidFill>
                <a:latin typeface="Montserrat"/>
              </a:rPr>
              <a:t>Where it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940" y="5974347"/>
            <a:ext cx="2616006" cy="7210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All four Advanced Programs carry the Soil Food Web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Consultant title; Soil Microscopy alone, the Lab Technician</a:t>
            </a:r>
          </a:p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FFFFFF"/>
                </a:solidFill>
                <a:latin typeface="Source Sans 3"/>
              </a:rPr>
              <a:t>title. Prices at </a:t>
            </a:r>
            <a:r>
              <a:rPr sz="710" b="0" i="0">
                <a:solidFill>
                  <a:srgbClr val="FFFFFF"/>
                </a:solidFill>
                <a:latin typeface="Source Sans 3"/>
              </a:rPr>
              <a:t>school.soilfoodweb.com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137" y="6702003"/>
            <a:ext cx="142536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Apply for a scholarship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137" y="6862412"/>
            <a:ext cx="1415765" cy="56025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Scholarships prioritize applicants in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under-resourced regions.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137" y="7130866"/>
            <a:ext cx="1168145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sfw.one/brochure-scholarship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340" y="244669"/>
            <a:ext cx="782726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340" y="417932"/>
            <a:ext cx="2891058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 global community amplifies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impact of this vital work.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340" y="2012640"/>
            <a:ext cx="194922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 workshop group around a finished compost pile.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537" y="2375245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Join the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537" y="2668151"/>
            <a:ext cx="1711116" cy="92052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Meet other people in the regenerative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agricultural space. Get your questions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answered by other practitioners of the soil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food web approach who share the desire to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restore the world's soils.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537" y="3296879"/>
            <a:ext cx="114912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sfw.one/brochure-community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340" y="3543952"/>
            <a:ext cx="2968416" cy="149760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Dr. Elaine's soil food web approach is the key to rapid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effective soil regeneration. Only with the complete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 place can the ecological functions of the soil be restored,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protecting and purifying the world's waterways, reversing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climate change and providing more nutritious foods. It's easy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find your place in this movement. Reach out to discover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opportunities to join us as a student, volunteer, ambassador,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donor and partner. </a:t>
            </a:r>
            <a:r>
              <a:rPr sz="710" b="0" i="0">
                <a:solidFill>
                  <a:srgbClr val="156826"/>
                </a:solidFill>
                <a:latin typeface="Source Sans 3"/>
              </a:rPr>
              <a:t>info@soilfoodweb.com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6340" y="5192443"/>
            <a:ext cx="57140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STUDY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8526" y="5192443"/>
            <a:ext cx="702990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VOLUNTEER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0711" y="5192443"/>
            <a:ext cx="61255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DONATE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896" y="5192443"/>
            <a:ext cx="539678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4232" y="5933462"/>
            <a:ext cx="1425275" cy="46725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School 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94232" y="6135361"/>
            <a:ext cx="2644444" cy="614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Your courses and the community, on your phone. Free, on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the Apple App Store and on Google Play.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4232" y="6741749"/>
            <a:ext cx="1415765" cy="69640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5441 S Macadam Ave Ste N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Portland, Oregon 97239</a:t>
            </a:r>
          </a:p>
          <a:p>
            <a:pPr algn="l">
              <a:lnSpc>
                <a:spcPts val="987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>
                <a:solidFill>
                  <a:srgbClr val="FFFFFF"/>
                </a:solidFill>
                <a:latin typeface="Montserrat"/>
              </a:rPr>
              <a:t>soilfoodweb.com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94232" y="7158554"/>
            <a:ext cx="2682575" cy="5531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Soil Food Web Foundation is a 501(c)(3) nonprofit organization, EIN 39-</a:t>
            </a:r>
          </a:p>
          <a:p>
            <a:pPr algn="l">
              <a:lnSpc>
                <a:spcPts val="918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FFFFFF">
                    <a:alpha val="82000"/>
                  </a:srgbClr>
                </a:solidFill>
                <a:latin typeface="Source Sans 3"/>
              </a:rPr>
              <a:t>4439236. The Soil Food Web School is a program of the Foundation.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08300" y="169955"/>
            <a:ext cx="1143365" cy="64986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Soil Food Web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1160" b="1" i="0" spc="-9">
                <a:solidFill>
                  <a:srgbClr val="4F3433"/>
                </a:solidFill>
                <a:latin typeface="Montserrat"/>
              </a:rPr>
              <a:t>Foundation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00" y="502926"/>
            <a:ext cx="910925" cy="46021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04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A665C"/>
                </a:solidFill>
                <a:latin typeface="Source Sans 3"/>
              </a:rPr>
              <a:t>A 501(c)(3) nonprofit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85340" y="2037838"/>
            <a:ext cx="2315535" cy="114290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The soil beneath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our farms and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-12">
                <a:solidFill>
                  <a:srgbClr val="4F3433"/>
                </a:solidFill>
                <a:latin typeface="Montserrat"/>
              </a:rPr>
              <a:t>forests is alive.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85340" y="3021162"/>
            <a:ext cx="2930286" cy="80494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 web of bacteria, fungi, protozoa, nematodes and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microarthropods feeds plants, builds soil, stores carbon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and cleans water </a:t>
            </a:r>
            <a:r>
              <a:rPr sz="980" b="0" i="1">
                <a:solidFill>
                  <a:srgbClr val="333130"/>
                </a:solidFill>
                <a:latin typeface="Source Sans 3"/>
              </a:rPr>
              <a:t>when it is intact</a:t>
            </a:r>
            <a:r>
              <a:rPr sz="980" b="0" i="0">
                <a:solidFill>
                  <a:srgbClr val="333130"/>
                </a:solidFill>
                <a:latin typeface="Source Sans 3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85340" y="3559222"/>
            <a:ext cx="299694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For forty-five years, Dr. Elaine Ingham mapped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taught the world to restore it. We carry her legacy forward: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showing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what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is possible, teaching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how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to partner with life in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soil, researching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why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things work or do not, and getting dirty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through </a:t>
            </a:r>
            <a:r>
              <a:rPr sz="839" b="1" i="0">
                <a:solidFill>
                  <a:srgbClr val="333130"/>
                </a:solidFill>
                <a:latin typeface="Source Sans 3"/>
              </a:rPr>
              <a:t>direct action</a:t>
            </a:r>
            <a:r>
              <a:rPr sz="839" b="0" i="0">
                <a:solidFill>
                  <a:srgbClr val="333130"/>
                </a:solidFill>
                <a:latin typeface="Source Sans 3"/>
              </a:rPr>
              <a:t> on working land. Living soil is the solution,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and it is beneath your feet.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85340" y="4913186"/>
            <a:ext cx="69823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EDUCATION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7525" y="4913186"/>
            <a:ext cx="666506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RESEARCH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9711" y="4913186"/>
            <a:ext cx="647395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PRACTICE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1896" y="4913186"/>
            <a:ext cx="712409" cy="411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COMMUNITY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340" y="5538978"/>
            <a:ext cx="550834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132+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85340" y="5774823"/>
            <a:ext cx="2377897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Countries in our student and practitioner community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85340" y="6030194"/>
            <a:ext cx="937991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10,000+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85340" y="6266130"/>
            <a:ext cx="164445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Individuals enrolled in our programs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85340" y="6521501"/>
            <a:ext cx="359450" cy="5360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 spc="-34">
                <a:solidFill>
                  <a:srgbClr val="FFFFFF"/>
                </a:solidFill>
                <a:latin typeface="Montserrat"/>
              </a:rPr>
              <a:t>45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85340" y="6757437"/>
            <a:ext cx="2635026" cy="44430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9"/>
              </a:lnSpc>
              <a:spcBef>
                <a:spcPts val="0"/>
              </a:spcBef>
              <a:spcAft>
                <a:spcPts val="0"/>
              </a:spcAft>
            </a:pPr>
            <a:r>
              <a:rPr sz="789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Years of pioneering soil biology research behind the method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85340" y="7002628"/>
            <a:ext cx="1783171" cy="8147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Healing soil.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Feeding humanity.</a:t>
            </a:r>
          </a:p>
          <a:p>
            <a:pPr algn="l">
              <a:lnSpc>
                <a:spcPts val="1299"/>
              </a:lnSpc>
              <a:spcBef>
                <a:spcPts val="0"/>
              </a:spcBef>
              <a:spcAft>
                <a:spcPts val="0"/>
              </a:spcAft>
            </a:pPr>
            <a:r>
              <a:rPr sz="999" b="1" i="0" spc="-4">
                <a:solidFill>
                  <a:srgbClr val="FFFFFF"/>
                </a:solidFill>
                <a:latin typeface="Montserrat"/>
              </a:rPr>
              <a:t>Restoring the living world.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inside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058400" cy="777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5940" y="244669"/>
            <a:ext cx="744595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5940" y="417932"/>
            <a:ext cx="2265517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It began with one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scientist looking closer.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652" y="2012640"/>
            <a:ext cx="145389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Dr. Elaine Ingham at the microscope.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940" y="2236085"/>
            <a:ext cx="2939796" cy="10560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The Soil Food Web Foundation was established in October 2025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to carry forward the life's work of Dr. Elaine Ingham,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pioneering scientist whose research transformed our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understanding of soil biology and its central role in food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production, ecosystem health, and planetary regeneration.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940" y="3026858"/>
            <a:ext cx="29874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She passed away in February 2026, and the work she started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continues through the Foundation, the school that is a part of it,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and Soil Food Web practitioners in more than 132 countries, who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FFFFFF"/>
                </a:solidFill>
                <a:latin typeface="Source Sans 3"/>
              </a:rPr>
              <a:t>are helping to restore the world's soils.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621" y="3944127"/>
            <a:ext cx="1577705" cy="5647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Examine Dr. Ingham's publications here: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FFFFFF">
                    <a:alpha val="86000"/>
                  </a:srgbClr>
                </a:solidFill>
                <a:latin typeface="Source Sans 3"/>
              </a:rPr>
              <a:t>sfw.one/publications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013" y="4618166"/>
            <a:ext cx="1654241" cy="4845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0"/>
              </a:lnSpc>
              <a:spcBef>
                <a:spcPts val="0"/>
              </a:spcBef>
              <a:spcAft>
                <a:spcPts val="0"/>
              </a:spcAft>
            </a:pPr>
            <a:r>
              <a:rPr sz="759" b="1" i="0" spc="46">
                <a:solidFill>
                  <a:srgbClr val="FFFFFF"/>
                </a:solidFill>
                <a:latin typeface="Source Sans 3"/>
              </a:rPr>
              <a:t>WHY THIS MATTERS FOR CLIMATE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832" y="4802688"/>
            <a:ext cx="2730215" cy="179332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Soil carbon sequestration is widely recognized as a part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of the solution to climate change impacts. Plants pull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carbon from the air and invest much of it in the soil, where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it is built into microbial bodies, aggregates and complex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fungal networks. A biological approach to soil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management reduces equipment emissions, reduces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fertilizer and irrigation needs and creates more nutritious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crops. Regenerating the world's soils using the Soil Food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Web Approach can improve atmospheric carbon levels.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FFFFFF"/>
                </a:solidFill>
                <a:latin typeface="Source Sans 3"/>
              </a:rPr>
              <a:t>Be part of the soil-ution!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137" y="6515649"/>
            <a:ext cx="1244315" cy="58494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Join our free online</a:t>
            </a:r>
          </a:p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137" y="6808554"/>
            <a:ext cx="1825416" cy="80046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Learn from and connect with other passionate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people in the regenerative agriculture space.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You can also register for our newsletter and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FFFFFF">
                    <a:alpha val="86000"/>
                  </a:srgbClr>
                </a:solidFill>
                <a:latin typeface="Source Sans 3"/>
              </a:rPr>
              <a:t>webinar series via the link in this QR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137" y="7317221"/>
            <a:ext cx="104433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FFFFFF">
                    <a:alpha val="70000"/>
                  </a:srgbClr>
                </a:solidFill>
                <a:latin typeface="Source Sans 3"/>
              </a:rPr>
              <a:t>sfw.one/brochure-webinar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4940" y="244669"/>
            <a:ext cx="68479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4940" y="417932"/>
            <a:ext cx="2191542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The science is open,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and anyone can test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4940" y="2012640"/>
            <a:ext cx="144438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Soil samples beside the microscope.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4940" y="2332482"/>
            <a:ext cx="293979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biologically complete, properly-structured soil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4940" y="3026961"/>
            <a:ext cx="656996" cy="502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NUTRIENT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CYCLING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126" y="3026961"/>
            <a:ext cx="693389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CREATES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SOIL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9311" y="3026961"/>
            <a:ext cx="661751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INHIBITS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WEED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PRESSURE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1496" y="3026961"/>
            <a:ext cx="733165" cy="59371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REDUCES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PESTS</a:t>
            </a:r>
          </a:p>
          <a:p>
            <a:pPr algn="ctr">
              <a:lnSpc>
                <a:spcPts val="719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 spc="50">
                <a:solidFill>
                  <a:srgbClr val="4F3433"/>
                </a:solidFill>
                <a:latin typeface="Montserrat"/>
              </a:rPr>
              <a:t>AND DISEASE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4940" y="4254292"/>
            <a:ext cx="2844606" cy="6847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Testate amoeba, 40x objective. Photograph: Joy Kaluf. A microbial count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names what is present in the sample and their relative numbers: bacteria,</a:t>
            </a:r>
          </a:p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fungi, protozoa, nematodes and microarthropods.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84940" y="4762591"/>
            <a:ext cx="2844606" cy="5759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What we test before we recommend remediation</a:t>
            </a:r>
          </a:p>
          <a:p>
            <a:pPr algn="l">
              <a:lnSpc>
                <a:spcPts val="1008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Montserrat"/>
              </a:rPr>
              <a:t>plans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18021" y="5044250"/>
            <a:ext cx="239691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Diagnostic first.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Every recommendation starts with a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biological analysis under a microscope.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8021" y="5350208"/>
            <a:ext cx="2701686" cy="59865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Measurable.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provide a relative count of various microbes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present in your soil or compost sample.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8021" y="5656257"/>
            <a:ext cx="2511216" cy="73545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39" b="1" i="0">
                <a:solidFill>
                  <a:srgbClr val="4F3433"/>
                </a:solidFill>
                <a:latin typeface="Source Sans 3"/>
              </a:rPr>
              <a:t>Adaptation and retrofitting.</a:t>
            </a:r>
            <a:r>
              <a:rPr sz="810" b="0" i="0">
                <a:solidFill>
                  <a:srgbClr val="333130"/>
                </a:solidFill>
                <a:latin typeface="Source Sans 3"/>
              </a:rPr>
              <a:t> We help you convert your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current operations to the soil food web approach, at any</a:t>
            </a:r>
          </a:p>
          <a:p>
            <a:pPr algn="l">
              <a:lnSpc>
                <a:spcPts val="1077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333130"/>
                </a:solidFill>
                <a:latin typeface="Source Sans 3"/>
              </a:rPr>
              <a:t>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22832" y="6323427"/>
            <a:ext cx="2739725" cy="119429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We train people who help farmers to transition away from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using chemicals, to using biology. This results in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significant benefits to the farmer and to the environment,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as well as to the consumer. The method has been proven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effective on 6 continents and across all soil types, as</a:t>
            </a:r>
          </a:p>
          <a:p>
            <a:pPr algn="l">
              <a:lnSpc>
                <a:spcPts val="1148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333130"/>
                </a:solidFill>
                <a:latin typeface="Source Sans 3"/>
              </a:rPr>
              <a:t>evidenced by our ever-increasing case study library.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3940" y="244669"/>
            <a:ext cx="656264" cy="43214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3"/>
              </a:lnSpc>
              <a:spcBef>
                <a:spcPts val="0"/>
              </a:spcBef>
              <a:spcAft>
                <a:spcPts val="0"/>
              </a:spcAft>
            </a:pPr>
            <a:r>
              <a:rPr sz="639" b="1" i="0" spc="96">
                <a:solidFill>
                  <a:srgbClr val="FFFFFF">
                    <a:alpha val="86000"/>
                  </a:srgbClr>
                </a:solidFill>
                <a:latin typeface="Montserrat"/>
              </a:rPr>
              <a:t>PRACTICE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3940" y="417932"/>
            <a:ext cx="2425354" cy="69329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Growers are already</a:t>
            </a:r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-8">
                <a:solidFill>
                  <a:srgbClr val="FFFFFF"/>
                </a:solidFill>
                <a:latin typeface="Montserrat"/>
              </a:rPr>
              <a:t>doing this, at every scale.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3940" y="2012640"/>
            <a:ext cx="1615836" cy="44165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57"/>
              </a:lnSpc>
              <a:spcBef>
                <a:spcPts val="0"/>
              </a:spcBef>
              <a:spcAft>
                <a:spcPts val="0"/>
              </a:spcAft>
            </a:pPr>
            <a:r>
              <a:rPr sz="759" b="0" i="1">
                <a:solidFill>
                  <a:srgbClr val="5A564C"/>
                </a:solidFill>
                <a:latin typeface="Source Sans 3"/>
              </a:rPr>
              <a:t>Agroecology plots at Rancho Cacachilas.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3940" y="2324481"/>
            <a:ext cx="2711196" cy="1289761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The basic methodology is universal; the application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is based upon locally-sourced materials. Our case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studies and field trials demonstrate the efficacy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across a range of soil types at every scale from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market gardens to massive industrial farming</a:t>
            </a:r>
          </a:p>
          <a:p>
            <a:pPr algn="l">
              <a:lnSpc>
                <a:spcPts val="1274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333130"/>
                </a:solidFill>
                <a:latin typeface="Source Sans 3"/>
              </a:rPr>
              <a:t>operations.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3940" y="3347356"/>
            <a:ext cx="2730306" cy="135038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Nick Padwick farms four thousand acres in Norfolk,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England. Roberto Silva works a hundred and forty in Piura,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Peru. Jenn Sirp grows on a quarter acre in California. Check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out their individual accounts of how the soil food web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approach changed their operations through reducing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inputs, creating better outputs and improving their bottom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3940" y="4432474"/>
            <a:ext cx="2758836" cy="120316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Though the projects run from backyard gardens to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expansive public parks, the same process is applicable.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steps are the same at every scale: look at the biology under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a microscope, add what is missing to rebalance the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microbial content, then measure again to confirm microbial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counts are going in the expected directions.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3940" y="5370374"/>
            <a:ext cx="2644536" cy="90882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We partner with growers to teach them microscopy and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biological compost creation and application so they can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implement the approach where they farm, and document</a:t>
            </a:r>
          </a:p>
          <a:p>
            <a:pPr algn="l">
              <a:lnSpc>
                <a:spcPts val="1159"/>
              </a:lnSpc>
              <a:spcBef>
                <a:spcPts val="0"/>
              </a:spcBef>
              <a:spcAft>
                <a:spcPts val="0"/>
              </a:spcAft>
            </a:pPr>
            <a:r>
              <a:rPr sz="839" b="0" i="0">
                <a:solidFill>
                  <a:srgbClr val="333130"/>
                </a:solidFill>
                <a:latin typeface="Source Sans 3"/>
              </a:rPr>
              <a:t>the impacts.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137" y="6641836"/>
            <a:ext cx="1444386" cy="45253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44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F3433"/>
                </a:solidFill>
                <a:latin typeface="Montserrat"/>
              </a:rPr>
              <a:t>Watch the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137" y="6802336"/>
            <a:ext cx="1558686" cy="68031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Growers filming their own soil, crop by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crop and climate by climate. Start with</a:t>
            </a:r>
          </a:p>
          <a:p>
            <a:pPr algn="l">
              <a:lnSpc>
                <a:spcPts val="947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4A463F"/>
                </a:solidFill>
                <a:latin typeface="Source Sans 3"/>
              </a:rPr>
              <a:t>one that looks like yours.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137" y="7190851"/>
            <a:ext cx="1168146" cy="44256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66"/>
              </a:lnSpc>
              <a:spcBef>
                <a:spcPts val="0"/>
              </a:spcBef>
              <a:spcAft>
                <a:spcPts val="0"/>
              </a:spcAft>
            </a:pPr>
            <a:r>
              <a:rPr sz="699" b="0" i="1">
                <a:solidFill>
                  <a:srgbClr val="6A665C"/>
                </a:solidFill>
                <a:latin typeface="Source Sans 3"/>
              </a:rPr>
              <a:t>sfw.one/brochure-casestudies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