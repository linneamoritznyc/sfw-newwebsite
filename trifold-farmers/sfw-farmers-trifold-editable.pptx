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0058400" cy="7772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image" Target="../media/image30.png"/><Relationship Id="rId15" Type="http://schemas.openxmlformats.org/officeDocument/2006/relationships/image" Target="../media/image31.png"/><Relationship Id="rId16" Type="http://schemas.openxmlformats.org/officeDocument/2006/relationships/image" Target="../media/image32.png"/><Relationship Id="rId17" Type="http://schemas.openxmlformats.org/officeDocument/2006/relationships/image" Target="../media/image33.png"/><Relationship Id="rId18" Type="http://schemas.openxmlformats.org/officeDocument/2006/relationships/image" Target="../media/image34.png"/><Relationship Id="rId19" Type="http://schemas.openxmlformats.org/officeDocument/2006/relationships/image" Target="../media/image35.png"/><Relationship Id="rId20" Type="http://schemas.openxmlformats.org/officeDocument/2006/relationships/image" Target="../media/image36.png"/><Relationship Id="rId21" Type="http://schemas.openxmlformats.org/officeDocument/2006/relationships/image" Target="../media/image37.png"/><Relationship Id="rId22" Type="http://schemas.openxmlformats.org/officeDocument/2006/relationships/image" Target="../media/image38.png"/><Relationship Id="rId23" Type="http://schemas.openxmlformats.org/officeDocument/2006/relationships/image" Target="../media/image3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 panel 3 ground"/>
          <p:cNvSpPr/>
          <p:nvPr/>
        </p:nvSpPr>
        <p:spPr>
          <a:xfrm>
            <a:off x="-114300" y="-114300"/>
            <a:ext cx="3314700" cy="8001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 panel 3 colour field"/>
          <p:cNvSpPr/>
          <p:nvPr/>
        </p:nvSpPr>
        <p:spPr>
          <a:xfrm>
            <a:off x="-114300" y="-114300"/>
            <a:ext cx="3314700" cy="8001000"/>
          </a:xfrm>
          <a:prstGeom prst="rect">
            <a:avLst/>
          </a:prstGeom>
          <a:gradFill rotWithShape="1">
            <a:gsLst>
              <a:gs pos="0">
                <a:srgbClr val="3780B8"/>
              </a:gs>
              <a:gs pos="100000">
                <a:srgbClr val="1F4E73"/>
              </a:gs>
            </a:gsLst>
            <a:lin ang="46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eyebrow eyebrow--edu"/>
          <p:cNvSpPr txBox="1"/>
          <p:nvPr/>
        </p:nvSpPr>
        <p:spPr>
          <a:xfrm>
            <a:off x="255984" y="260152"/>
            <a:ext cx="2788134"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WHY BIOLOGY</a:t>
            </a:r>
          </a:p>
        </p:txBody>
      </p:sp>
      <p:sp>
        <p:nvSpPr>
          <p:cNvPr id="5" name="text: h2"/>
          <p:cNvSpPr txBox="1"/>
          <p:nvPr/>
        </p:nvSpPr>
        <p:spPr>
          <a:xfrm>
            <a:off x="255984" y="422374"/>
            <a:ext cx="2788134"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Feed the organisms that feed your plants.</a:t>
            </a:r>
          </a:p>
        </p:txBody>
      </p:sp>
      <p:pic>
        <p:nvPicPr>
          <p:cNvPr id="6" name="image: Elaine Flower Shirt Microscope.png" descr="outside-000.png"/>
          <p:cNvPicPr>
            <a:picLocks noChangeAspect="1"/>
          </p:cNvPicPr>
          <p:nvPr/>
        </p:nvPicPr>
        <p:blipFill>
          <a:blip r:embed="rId2"/>
          <a:stretch>
            <a:fillRect/>
          </a:stretch>
        </p:blipFill>
        <p:spPr>
          <a:xfrm>
            <a:off x="-132606" y="896094"/>
            <a:ext cx="3333006" cy="1097161"/>
          </a:xfrm>
          <a:prstGeom prst="rect">
            <a:avLst/>
          </a:prstGeom>
        </p:spPr>
      </p:pic>
      <p:pic>
        <p:nvPicPr>
          <p:cNvPr id="7" name="image: photo fade" descr="outside-001.png"/>
          <p:cNvPicPr>
            <a:picLocks noChangeAspect="1"/>
          </p:cNvPicPr>
          <p:nvPr/>
        </p:nvPicPr>
        <p:blipFill>
          <a:blip r:embed="rId3"/>
          <a:stretch>
            <a:fillRect/>
          </a:stretch>
        </p:blipFill>
        <p:spPr>
          <a:xfrm>
            <a:off x="-132606" y="1547217"/>
            <a:ext cx="3333006" cy="639961"/>
          </a:xfrm>
          <a:prstGeom prst="rect">
            <a:avLst/>
          </a:prstGeom>
        </p:spPr>
      </p:pic>
      <p:sp>
        <p:nvSpPr>
          <p:cNvPr id="8" name="text: caption"/>
          <p:cNvSpPr txBox="1"/>
          <p:nvPr/>
        </p:nvSpPr>
        <p:spPr>
          <a:xfrm>
            <a:off x="237679" y="2025253"/>
            <a:ext cx="2806989" cy="107156"/>
          </a:xfrm>
          <a:prstGeom prst="rect">
            <a:avLst/>
          </a:prstGeom>
          <a:noFill/>
        </p:spPr>
        <p:txBody>
          <a:bodyPr wrap="square" lIns="0" rIns="0" tIns="0" bIns="0">
            <a:noAutofit/>
          </a:bodyPr>
          <a:lstStyle/>
          <a:p>
            <a:pPr algn="l">
              <a:lnSpc>
                <a:spcPts val="844"/>
              </a:lnSpc>
            </a:pPr>
            <a:r>
              <a:rPr sz="650" b="0" i="1">
                <a:solidFill>
                  <a:srgbClr val="FFFFFF">
                    <a:alpha val="70000"/>
                  </a:srgbClr>
                </a:solidFill>
                <a:latin typeface="Source Sans 3"/>
              </a:rPr>
              <a:t>Dr. Elaine Ingham at the microscope.</a:t>
            </a:r>
          </a:p>
        </p:txBody>
      </p:sp>
      <p:sp>
        <p:nvSpPr>
          <p:cNvPr id="9" name="text: h3"/>
          <p:cNvSpPr txBox="1"/>
          <p:nvPr/>
        </p:nvSpPr>
        <p:spPr>
          <a:xfrm>
            <a:off x="255984" y="2328714"/>
            <a:ext cx="2788134" cy="127992"/>
          </a:xfrm>
          <a:prstGeom prst="rect">
            <a:avLst/>
          </a:prstGeom>
          <a:noFill/>
        </p:spPr>
        <p:txBody>
          <a:bodyPr wrap="square" lIns="0" rIns="0" tIns="0" bIns="0">
            <a:noAutofit/>
          </a:bodyPr>
          <a:lstStyle/>
          <a:p>
            <a:pPr algn="l">
              <a:lnSpc>
                <a:spcPts val="1008"/>
              </a:lnSpc>
            </a:pPr>
            <a:r>
              <a:rPr sz="850" b="1" i="0">
                <a:solidFill>
                  <a:srgbClr val="FFFFFF"/>
                </a:solidFill>
                <a:latin typeface="Montserrat"/>
              </a:rPr>
              <a:t>Plants don't feed alone.</a:t>
            </a:r>
          </a:p>
        </p:txBody>
      </p:sp>
      <p:sp>
        <p:nvSpPr>
          <p:cNvPr id="10" name="text: p"/>
          <p:cNvSpPr txBox="1"/>
          <p:nvPr/>
        </p:nvSpPr>
        <p:spPr>
          <a:xfrm>
            <a:off x="255984" y="2488704"/>
            <a:ext cx="2788134" cy="770930"/>
          </a:xfrm>
          <a:prstGeom prst="rect">
            <a:avLst/>
          </a:prstGeom>
          <a:noFill/>
        </p:spPr>
        <p:txBody>
          <a:bodyPr wrap="square" lIns="0" rIns="0" tIns="0" bIns="0">
            <a:noAutofit/>
          </a:bodyPr>
          <a:lstStyle/>
          <a:p>
            <a:pPr algn="l">
              <a:lnSpc>
                <a:spcPts val="1214"/>
              </a:lnSpc>
            </a:pPr>
            <a:r>
              <a:rPr sz="900" b="0" i="0">
                <a:solidFill>
                  <a:srgbClr val="FFFFFF"/>
                </a:solidFill>
                <a:latin typeface="Source Sans 3"/>
              </a:rPr>
              <a:t>Bacteria and fungi produce enzymes that break down minerals and organic matter and free the nutrients they contain. When protozoa and nematodes consume those bacteria and fungi, the surplus is released right at the root, in plant-available form.</a:t>
            </a:r>
          </a:p>
        </p:txBody>
      </p:sp>
      <p:sp>
        <p:nvSpPr>
          <p:cNvPr id="11" name="text: p"/>
          <p:cNvSpPr txBox="1"/>
          <p:nvPr/>
        </p:nvSpPr>
        <p:spPr>
          <a:xfrm>
            <a:off x="255984" y="3314402"/>
            <a:ext cx="2788134" cy="616744"/>
          </a:xfrm>
          <a:prstGeom prst="rect">
            <a:avLst/>
          </a:prstGeom>
          <a:noFill/>
        </p:spPr>
        <p:txBody>
          <a:bodyPr wrap="square" lIns="0" rIns="0" tIns="0" bIns="0">
            <a:noAutofit/>
          </a:bodyPr>
          <a:lstStyle/>
          <a:p>
            <a:pPr algn="l">
              <a:lnSpc>
                <a:spcPts val="1214"/>
              </a:lnSpc>
            </a:pPr>
            <a:r>
              <a:rPr sz="900" b="0" i="0">
                <a:solidFill>
                  <a:srgbClr val="FFFFFF"/>
                </a:solidFill>
                <a:latin typeface="Source Sans 3"/>
              </a:rPr>
              <a:t>Bacteria produce glues that bind soil particles into microaggregates; fungal hyphae weave those into larger macroaggregates. The result behaves like a sponge, holding water, letting air flow in and resisting erosion.</a:t>
            </a:r>
          </a:p>
        </p:txBody>
      </p:sp>
      <p:sp>
        <p:nvSpPr>
          <p:cNvPr id="12" name="text: p"/>
          <p:cNvSpPr txBox="1"/>
          <p:nvPr/>
        </p:nvSpPr>
        <p:spPr>
          <a:xfrm>
            <a:off x="255984" y="3985915"/>
            <a:ext cx="2788134" cy="462558"/>
          </a:xfrm>
          <a:prstGeom prst="rect">
            <a:avLst/>
          </a:prstGeom>
          <a:noFill/>
        </p:spPr>
        <p:txBody>
          <a:bodyPr wrap="square" lIns="0" rIns="0" tIns="0" bIns="0">
            <a:noAutofit/>
          </a:bodyPr>
          <a:lstStyle/>
          <a:p>
            <a:pPr algn="l">
              <a:lnSpc>
                <a:spcPts val="1214"/>
              </a:lnSpc>
            </a:pPr>
            <a:r>
              <a:rPr sz="900" b="0" i="0">
                <a:solidFill>
                  <a:srgbClr val="FFFFFF"/>
                </a:solidFill>
                <a:latin typeface="Source Sans 3"/>
              </a:rPr>
              <a:t>These microbes are often lost in land that has been chemically managed or compacted. Biologically complete compost is designed to restore them.</a:t>
            </a:r>
          </a:p>
        </p:txBody>
      </p:sp>
      <p:sp>
        <p:nvSpPr>
          <p:cNvPr id="13" name="rect: card card--green background"/>
          <p:cNvSpPr/>
          <p:nvPr/>
        </p:nvSpPr>
        <p:spPr>
          <a:xfrm>
            <a:off x="255984" y="4558010"/>
            <a:ext cx="2688431" cy="1001316"/>
          </a:xfrm>
          <a:prstGeom prst="roundRect">
            <a:avLst>
              <a:gd name="adj" fmla="val 4109"/>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 left rule"/>
          <p:cNvSpPr/>
          <p:nvPr/>
        </p:nvSpPr>
        <p:spPr>
          <a:xfrm>
            <a:off x="255984" y="4558010"/>
            <a:ext cx="19050" cy="1001316"/>
          </a:xfrm>
          <a:prstGeom prst="rect">
            <a:avLst/>
          </a:prstGeom>
          <a:solidFill>
            <a:srgbClr val="FFFFFF">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pull"/>
          <p:cNvSpPr txBox="1"/>
          <p:nvPr/>
        </p:nvSpPr>
        <p:spPr>
          <a:xfrm>
            <a:off x="393799" y="4667696"/>
            <a:ext cx="2523857" cy="781943"/>
          </a:xfrm>
          <a:prstGeom prst="rect">
            <a:avLst/>
          </a:prstGeom>
          <a:noFill/>
        </p:spPr>
        <p:txBody>
          <a:bodyPr wrap="square" lIns="0" rIns="0" tIns="0" bIns="0">
            <a:noAutofit/>
          </a:bodyPr>
          <a:lstStyle/>
          <a:p>
            <a:pPr algn="l">
              <a:lnSpc>
                <a:spcPts val="1214"/>
              </a:lnSpc>
            </a:pPr>
            <a:r>
              <a:rPr sz="750" b="1" i="0" spc="45">
                <a:solidFill>
                  <a:srgbClr val="FFFFFF"/>
                </a:solidFill>
                <a:latin typeface="Source Sans 3"/>
              </a:rPr>
              <a:t>OUR STORY</a:t>
            </a:r>
          </a:p>
          <a:p>
            <a:pPr algn="l">
              <a:lnSpc>
                <a:spcPts val="1214"/>
              </a:lnSpc>
            </a:pPr>
            <a:r>
              <a:rPr sz="900" b="0" i="0">
                <a:solidFill>
                  <a:srgbClr val="FFFFFF"/>
                </a:solidFill>
                <a:latin typeface="Source Sans 3"/>
              </a:rPr>
              <a:t>Dr. Elaine Ingham mapped the Soil Food Web and taught the world to restore it. The Soil Food Web Foundation, established in October 2025, carries her work forward with growers on working land.</a:t>
            </a:r>
          </a:p>
        </p:txBody>
      </p:sp>
      <p:pic>
        <p:nvPicPr>
          <p:cNvPr id="16" name="image: elaine-and-nematode-extraction.jpg" descr="outside-002.png"/>
          <p:cNvPicPr>
            <a:picLocks noChangeAspect="1"/>
          </p:cNvPicPr>
          <p:nvPr/>
        </p:nvPicPr>
        <p:blipFill>
          <a:blip r:embed="rId4"/>
          <a:stretch>
            <a:fillRect/>
          </a:stretch>
        </p:blipFill>
        <p:spPr>
          <a:xfrm>
            <a:off x="255984" y="5646093"/>
            <a:ext cx="1078855" cy="658267"/>
          </a:xfrm>
          <a:prstGeom prst="rect">
            <a:avLst/>
          </a:prstGeom>
        </p:spPr>
      </p:pic>
      <p:sp>
        <p:nvSpPr>
          <p:cNvPr id="17" name="text: caption"/>
          <p:cNvSpPr txBox="1"/>
          <p:nvPr/>
        </p:nvSpPr>
        <p:spPr>
          <a:xfrm>
            <a:off x="1453604" y="5837486"/>
            <a:ext cx="1480852" cy="220712"/>
          </a:xfrm>
          <a:prstGeom prst="rect">
            <a:avLst/>
          </a:prstGeom>
          <a:noFill/>
        </p:spPr>
        <p:txBody>
          <a:bodyPr wrap="square" lIns="0" rIns="0" tIns="0" bIns="0">
            <a:noAutofit/>
          </a:bodyPr>
          <a:lstStyle/>
          <a:p>
            <a:pPr algn="l">
              <a:lnSpc>
                <a:spcPts val="844"/>
              </a:lnSpc>
            </a:pPr>
            <a:r>
              <a:rPr sz="650" b="0" i="1">
                <a:solidFill>
                  <a:srgbClr val="FFFFFF">
                    <a:alpha val="70000"/>
                  </a:srgbClr>
                </a:solidFill>
                <a:latin typeface="Source Sans 3"/>
              </a:rPr>
              <a:t>Her published record, in full, on our site:</a:t>
            </a:r>
          </a:p>
          <a:p>
            <a:pPr algn="l">
              <a:lnSpc>
                <a:spcPts val="844"/>
              </a:lnSpc>
            </a:pPr>
            <a:r>
              <a:rPr sz="700" b="0" i="1">
                <a:solidFill>
                  <a:srgbClr val="FFFFFF"/>
                </a:solidFill>
                <a:latin typeface="Source Sans 3"/>
              </a:rPr>
              <a:t>sfw.one/publications</a:t>
            </a:r>
          </a:p>
        </p:txBody>
      </p:sp>
      <p:pic>
        <p:nvPicPr>
          <p:cNvPr id="18" name="image: webinar-blue.svg" descr="outside-003.png"/>
          <p:cNvPicPr>
            <a:picLocks noChangeAspect="1"/>
          </p:cNvPicPr>
          <p:nvPr/>
        </p:nvPicPr>
        <p:blipFill>
          <a:blip r:embed="rId5"/>
          <a:stretch>
            <a:fillRect/>
          </a:stretch>
        </p:blipFill>
        <p:spPr>
          <a:xfrm>
            <a:off x="255984" y="6464945"/>
            <a:ext cx="1051471" cy="1051471"/>
          </a:xfrm>
          <a:prstGeom prst="rect">
            <a:avLst/>
          </a:prstGeom>
        </p:spPr>
      </p:pic>
      <p:sp>
        <p:nvSpPr>
          <p:cNvPr id="19" name="text: t"/>
          <p:cNvSpPr txBox="1"/>
          <p:nvPr/>
        </p:nvSpPr>
        <p:spPr>
          <a:xfrm>
            <a:off x="1417141" y="6650980"/>
            <a:ext cx="1592142" cy="132457"/>
          </a:xfrm>
          <a:prstGeom prst="rect">
            <a:avLst/>
          </a:prstGeom>
          <a:noFill/>
        </p:spPr>
        <p:txBody>
          <a:bodyPr wrap="square" lIns="0" rIns="0" tIns="0" bIns="0">
            <a:noAutofit/>
          </a:bodyPr>
          <a:lstStyle/>
          <a:p>
            <a:pPr algn="l">
              <a:lnSpc>
                <a:spcPts val="1044"/>
              </a:lnSpc>
            </a:pPr>
            <a:r>
              <a:rPr sz="900" b="1" i="0">
                <a:solidFill>
                  <a:srgbClr val="FFFFFF"/>
                </a:solidFill>
                <a:latin typeface="Montserrat"/>
              </a:rPr>
              <a:t>Watch a free webinar</a:t>
            </a:r>
          </a:p>
        </p:txBody>
      </p:sp>
      <p:sp>
        <p:nvSpPr>
          <p:cNvPr id="20" name="text: d"/>
          <p:cNvSpPr txBox="1"/>
          <p:nvPr/>
        </p:nvSpPr>
        <p:spPr>
          <a:xfrm>
            <a:off x="1417141" y="6815435"/>
            <a:ext cx="1592142" cy="360313"/>
          </a:xfrm>
          <a:prstGeom prst="rect">
            <a:avLst/>
          </a:prstGeom>
          <a:noFill/>
        </p:spPr>
        <p:txBody>
          <a:bodyPr wrap="square" lIns="0" rIns="0" tIns="0" bIns="0">
            <a:noAutofit/>
          </a:bodyPr>
          <a:lstStyle/>
          <a:p>
            <a:pPr algn="l">
              <a:lnSpc>
                <a:spcPts val="947"/>
              </a:lnSpc>
            </a:pPr>
            <a:r>
              <a:rPr sz="750" b="0" i="0">
                <a:solidFill>
                  <a:srgbClr val="FFFFFF">
                    <a:alpha val="86000"/>
                  </a:srgbClr>
                </a:solidFill>
                <a:latin typeface="Source Sans 3"/>
              </a:rPr>
              <a:t>A live hour with an instructor or a practitioner, every month. The easiest first step.</a:t>
            </a:r>
          </a:p>
        </p:txBody>
      </p:sp>
      <p:sp>
        <p:nvSpPr>
          <p:cNvPr id="21" name="text: h"/>
          <p:cNvSpPr txBox="1"/>
          <p:nvPr/>
        </p:nvSpPr>
        <p:spPr>
          <a:xfrm>
            <a:off x="1417141" y="7207746"/>
            <a:ext cx="1592142" cy="122486"/>
          </a:xfrm>
          <a:prstGeom prst="rect">
            <a:avLst/>
          </a:prstGeom>
          <a:noFill/>
        </p:spPr>
        <p:txBody>
          <a:bodyPr wrap="square" lIns="0" rIns="0" tIns="0" bIns="0">
            <a:noAutofit/>
          </a:bodyPr>
          <a:lstStyle/>
          <a:p>
            <a:pPr algn="l">
              <a:lnSpc>
                <a:spcPts val="966"/>
              </a:lnSpc>
            </a:pPr>
            <a:r>
              <a:rPr sz="700" b="0" i="1">
                <a:solidFill>
                  <a:srgbClr val="FFFFFF">
                    <a:alpha val="70000"/>
                  </a:srgbClr>
                </a:solidFill>
                <a:latin typeface="Source Sans 3"/>
              </a:rPr>
              <a:t>sfw.one/brochure-webinar</a:t>
            </a:r>
          </a:p>
        </p:txBody>
      </p:sp>
      <p:sp>
        <p:nvSpPr>
          <p:cNvPr id="22" name="rect: panel 6 ground"/>
          <p:cNvSpPr/>
          <p:nvPr/>
        </p:nvSpPr>
        <p:spPr>
          <a:xfrm>
            <a:off x="3200400" y="-114300"/>
            <a:ext cx="3429000" cy="800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 banner background"/>
          <p:cNvSpPr/>
          <p:nvPr/>
        </p:nvSpPr>
        <p:spPr>
          <a:xfrm>
            <a:off x="3200400" y="-132606"/>
            <a:ext cx="3429000" cy="1028700"/>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eyebrow"/>
          <p:cNvSpPr txBox="1"/>
          <p:nvPr/>
        </p:nvSpPr>
        <p:spPr>
          <a:xfrm>
            <a:off x="3456384" y="260152"/>
            <a:ext cx="3023592"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COMMUNITY</a:t>
            </a:r>
          </a:p>
        </p:txBody>
      </p:sp>
      <p:sp>
        <p:nvSpPr>
          <p:cNvPr id="25" name="text: h2"/>
          <p:cNvSpPr txBox="1"/>
          <p:nvPr/>
        </p:nvSpPr>
        <p:spPr>
          <a:xfrm>
            <a:off x="3456384" y="422374"/>
            <a:ext cx="3023592"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Join a global community of Soil Regenerators.</a:t>
            </a:r>
          </a:p>
        </p:txBody>
      </p:sp>
      <p:pic>
        <p:nvPicPr>
          <p:cNvPr id="26" name="image: MAR Group Photo 2.jpg" descr="outside-004.png"/>
          <p:cNvPicPr>
            <a:picLocks noChangeAspect="1"/>
          </p:cNvPicPr>
          <p:nvPr/>
        </p:nvPicPr>
        <p:blipFill>
          <a:blip r:embed="rId6"/>
          <a:stretch>
            <a:fillRect/>
          </a:stretch>
        </p:blipFill>
        <p:spPr>
          <a:xfrm>
            <a:off x="3200400" y="896094"/>
            <a:ext cx="3429000" cy="1097161"/>
          </a:xfrm>
          <a:prstGeom prst="rect">
            <a:avLst/>
          </a:prstGeom>
        </p:spPr>
      </p:pic>
      <p:sp>
        <p:nvSpPr>
          <p:cNvPr id="27" name="text: caption"/>
          <p:cNvSpPr txBox="1"/>
          <p:nvPr/>
        </p:nvSpPr>
        <p:spPr>
          <a:xfrm>
            <a:off x="3456384" y="2025253"/>
            <a:ext cx="3023592" cy="107156"/>
          </a:xfrm>
          <a:prstGeom prst="rect">
            <a:avLst/>
          </a:prstGeom>
          <a:noFill/>
        </p:spPr>
        <p:txBody>
          <a:bodyPr wrap="square" lIns="0" rIns="0" tIns="0" bIns="0">
            <a:noAutofit/>
          </a:bodyPr>
          <a:lstStyle/>
          <a:p>
            <a:pPr algn="l">
              <a:lnSpc>
                <a:spcPts val="844"/>
              </a:lnSpc>
            </a:pPr>
            <a:r>
              <a:rPr sz="650" b="0" i="1">
                <a:solidFill>
                  <a:srgbClr val="6A665C"/>
                </a:solidFill>
                <a:latin typeface="Source Sans 3"/>
              </a:rPr>
              <a:t>A workshop group around a finished compost pile.</a:t>
            </a:r>
          </a:p>
        </p:txBody>
      </p:sp>
      <p:sp>
        <p:nvSpPr>
          <p:cNvPr id="28" name="text: h3"/>
          <p:cNvSpPr txBox="1"/>
          <p:nvPr/>
        </p:nvSpPr>
        <p:spPr>
          <a:xfrm>
            <a:off x="3456384" y="2328714"/>
            <a:ext cx="3023592" cy="255984"/>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We believe your food is only as nutritious as your soil is alive.</a:t>
            </a:r>
          </a:p>
        </p:txBody>
      </p:sp>
      <p:sp>
        <p:nvSpPr>
          <p:cNvPr id="29" name="text: p"/>
          <p:cNvSpPr txBox="1"/>
          <p:nvPr/>
        </p:nvSpPr>
        <p:spPr>
          <a:xfrm>
            <a:off x="3456384" y="2616696"/>
            <a:ext cx="3023592" cy="883146"/>
          </a:xfrm>
          <a:prstGeom prst="rect">
            <a:avLst/>
          </a:prstGeom>
          <a:noFill/>
        </p:spPr>
        <p:txBody>
          <a:bodyPr wrap="square" lIns="0" rIns="0" tIns="0" bIns="0">
            <a:noAutofit/>
          </a:bodyPr>
          <a:lstStyle/>
          <a:p>
            <a:pPr algn="l">
              <a:lnSpc>
                <a:spcPts val="1159"/>
              </a:lnSpc>
            </a:pPr>
            <a:r>
              <a:rPr sz="850" b="0" i="0">
                <a:solidFill>
                  <a:srgbClr val="333130"/>
                </a:solidFill>
                <a:latin typeface="Source Sans 3"/>
              </a:rPr>
              <a:t>Farmers, consultants, gardeners and people who care where their food comes from are part of this community. It's easy to find your place in this movement. Reach out to discover opportunities to join us as a student, volunteer, ambassador, donor and partner. As a nonprofit, the best way to support us is to share our message and resources with people who need them.</a:t>
            </a:r>
          </a:p>
        </p:txBody>
      </p:sp>
      <p:pic>
        <p:nvPicPr>
          <p:cNvPr id="30" name="image: community.svg" descr="outside-005.png"/>
          <p:cNvPicPr>
            <a:picLocks noChangeAspect="1"/>
          </p:cNvPicPr>
          <p:nvPr/>
        </p:nvPicPr>
        <p:blipFill>
          <a:blip r:embed="rId7"/>
          <a:stretch>
            <a:fillRect/>
          </a:stretch>
        </p:blipFill>
        <p:spPr>
          <a:xfrm>
            <a:off x="3456384" y="3641527"/>
            <a:ext cx="1051471" cy="1051471"/>
          </a:xfrm>
          <a:prstGeom prst="rect">
            <a:avLst/>
          </a:prstGeom>
        </p:spPr>
      </p:pic>
      <p:sp>
        <p:nvSpPr>
          <p:cNvPr id="31" name="text: t"/>
          <p:cNvSpPr txBox="1"/>
          <p:nvPr/>
        </p:nvSpPr>
        <p:spPr>
          <a:xfrm>
            <a:off x="4617541" y="3641378"/>
            <a:ext cx="1827600" cy="264914"/>
          </a:xfrm>
          <a:prstGeom prst="rect">
            <a:avLst/>
          </a:prstGeom>
          <a:noFill/>
        </p:spPr>
        <p:txBody>
          <a:bodyPr wrap="square" lIns="0" rIns="0" tIns="0" bIns="0">
            <a:noAutofit/>
          </a:bodyPr>
          <a:lstStyle/>
          <a:p>
            <a:pPr algn="l">
              <a:lnSpc>
                <a:spcPts val="1044"/>
              </a:lnSpc>
            </a:pPr>
            <a:r>
              <a:rPr sz="900" b="1" i="0">
                <a:solidFill>
                  <a:srgbClr val="4F3433"/>
                </a:solidFill>
                <a:latin typeface="Montserrat"/>
              </a:rPr>
              <a:t>Join the free online community</a:t>
            </a:r>
          </a:p>
        </p:txBody>
      </p:sp>
      <p:sp>
        <p:nvSpPr>
          <p:cNvPr id="32" name="text: d"/>
          <p:cNvSpPr txBox="1"/>
          <p:nvPr/>
        </p:nvSpPr>
        <p:spPr>
          <a:xfrm>
            <a:off x="4617541" y="3938290"/>
            <a:ext cx="1827600" cy="600521"/>
          </a:xfrm>
          <a:prstGeom prst="rect">
            <a:avLst/>
          </a:prstGeom>
          <a:noFill/>
        </p:spPr>
        <p:txBody>
          <a:bodyPr wrap="square" lIns="0" rIns="0" tIns="0" bIns="0">
            <a:noAutofit/>
          </a:bodyPr>
          <a:lstStyle/>
          <a:p>
            <a:pPr algn="l">
              <a:lnSpc>
                <a:spcPts val="947"/>
              </a:lnSpc>
            </a:pPr>
            <a:r>
              <a:rPr sz="750" b="0" i="0">
                <a:solidFill>
                  <a:srgbClr val="4A463F"/>
                </a:solidFill>
                <a:latin typeface="Source Sans 3"/>
              </a:rPr>
              <a:t>Meet other people in the regenerative agricultural space. Get your questions answered by other practitioners of the Soil Food Web Approach who share the desire to restore the world's soils.</a:t>
            </a:r>
          </a:p>
        </p:txBody>
      </p:sp>
      <p:sp>
        <p:nvSpPr>
          <p:cNvPr id="33" name="text: h"/>
          <p:cNvSpPr txBox="1"/>
          <p:nvPr/>
        </p:nvSpPr>
        <p:spPr>
          <a:xfrm>
            <a:off x="4617541" y="4570809"/>
            <a:ext cx="1827600" cy="122486"/>
          </a:xfrm>
          <a:prstGeom prst="rect">
            <a:avLst/>
          </a:prstGeom>
          <a:noFill/>
        </p:spPr>
        <p:txBody>
          <a:bodyPr wrap="square" lIns="0" rIns="0" tIns="0" bIns="0">
            <a:noAutofit/>
          </a:bodyPr>
          <a:lstStyle/>
          <a:p>
            <a:pPr algn="l">
              <a:lnSpc>
                <a:spcPts val="966"/>
              </a:lnSpc>
            </a:pPr>
            <a:r>
              <a:rPr sz="700" b="0" i="1">
                <a:solidFill>
                  <a:srgbClr val="6A665C"/>
                </a:solidFill>
                <a:latin typeface="Source Sans 3"/>
              </a:rPr>
              <a:t>sfw.one/brochure-community</a:t>
            </a:r>
          </a:p>
        </p:txBody>
      </p:sp>
      <p:pic>
        <p:nvPicPr>
          <p:cNvPr id="34" name="image: icon #i-scholarship" descr="outside-006.png"/>
          <p:cNvPicPr>
            <a:picLocks noChangeAspect="1"/>
          </p:cNvPicPr>
          <p:nvPr/>
        </p:nvPicPr>
        <p:blipFill>
          <a:blip r:embed="rId8"/>
          <a:stretch>
            <a:fillRect/>
          </a:stretch>
        </p:blipFill>
        <p:spPr>
          <a:xfrm>
            <a:off x="3649563" y="4748064"/>
            <a:ext cx="274290" cy="274290"/>
          </a:xfrm>
          <a:prstGeom prst="rect">
            <a:avLst/>
          </a:prstGeom>
        </p:spPr>
      </p:pic>
      <p:sp>
        <p:nvSpPr>
          <p:cNvPr id="35" name="text: l"/>
          <p:cNvSpPr txBox="1"/>
          <p:nvPr/>
        </p:nvSpPr>
        <p:spPr>
          <a:xfrm>
            <a:off x="3456384" y="5063430"/>
            <a:ext cx="699671"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STUDY</a:t>
            </a:r>
          </a:p>
        </p:txBody>
      </p:sp>
      <p:pic>
        <p:nvPicPr>
          <p:cNvPr id="36" name="image: icon #i-person" descr="outside-007.png"/>
          <p:cNvPicPr>
            <a:picLocks noChangeAspect="1"/>
          </p:cNvPicPr>
          <p:nvPr/>
        </p:nvPicPr>
        <p:blipFill>
          <a:blip r:embed="rId9"/>
          <a:stretch>
            <a:fillRect/>
          </a:stretch>
        </p:blipFill>
        <p:spPr>
          <a:xfrm>
            <a:off x="4401741" y="4748064"/>
            <a:ext cx="274290" cy="274290"/>
          </a:xfrm>
          <a:prstGeom prst="rect">
            <a:avLst/>
          </a:prstGeom>
        </p:spPr>
      </p:pic>
      <p:sp>
        <p:nvSpPr>
          <p:cNvPr id="37" name="text: l"/>
          <p:cNvSpPr txBox="1"/>
          <p:nvPr/>
        </p:nvSpPr>
        <p:spPr>
          <a:xfrm>
            <a:off x="4208562" y="5063430"/>
            <a:ext cx="699671"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VOLUNTEER</a:t>
            </a:r>
          </a:p>
        </p:txBody>
      </p:sp>
      <p:pic>
        <p:nvPicPr>
          <p:cNvPr id="38" name="image: icon #i-heart" descr="outside-008.png"/>
          <p:cNvPicPr>
            <a:picLocks noChangeAspect="1"/>
          </p:cNvPicPr>
          <p:nvPr/>
        </p:nvPicPr>
        <p:blipFill>
          <a:blip r:embed="rId10"/>
          <a:stretch>
            <a:fillRect/>
          </a:stretch>
        </p:blipFill>
        <p:spPr>
          <a:xfrm>
            <a:off x="5153918" y="4748064"/>
            <a:ext cx="274290" cy="274290"/>
          </a:xfrm>
          <a:prstGeom prst="rect">
            <a:avLst/>
          </a:prstGeom>
        </p:spPr>
      </p:pic>
      <p:sp>
        <p:nvSpPr>
          <p:cNvPr id="39" name="text: l"/>
          <p:cNvSpPr txBox="1"/>
          <p:nvPr/>
        </p:nvSpPr>
        <p:spPr>
          <a:xfrm>
            <a:off x="4960739" y="5063430"/>
            <a:ext cx="699671"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DONATE</a:t>
            </a:r>
          </a:p>
        </p:txBody>
      </p:sp>
      <p:pic>
        <p:nvPicPr>
          <p:cNvPr id="40" name="image: icon #i-dig" descr="outside-009.png"/>
          <p:cNvPicPr>
            <a:picLocks noChangeAspect="1"/>
          </p:cNvPicPr>
          <p:nvPr/>
        </p:nvPicPr>
        <p:blipFill>
          <a:blip r:embed="rId11"/>
          <a:stretch>
            <a:fillRect/>
          </a:stretch>
        </p:blipFill>
        <p:spPr>
          <a:xfrm>
            <a:off x="5906095" y="4748064"/>
            <a:ext cx="274290" cy="274290"/>
          </a:xfrm>
          <a:prstGeom prst="rect">
            <a:avLst/>
          </a:prstGeom>
        </p:spPr>
      </p:pic>
      <p:sp>
        <p:nvSpPr>
          <p:cNvPr id="41" name="text: l"/>
          <p:cNvSpPr txBox="1"/>
          <p:nvPr/>
        </p:nvSpPr>
        <p:spPr>
          <a:xfrm>
            <a:off x="5712916" y="5063430"/>
            <a:ext cx="699671"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HOST</a:t>
            </a:r>
          </a:p>
        </p:txBody>
      </p:sp>
      <p:sp>
        <p:nvSpPr>
          <p:cNvPr id="42" name="rect: field field--flush field--foot background"/>
          <p:cNvSpPr/>
          <p:nvPr/>
        </p:nvSpPr>
        <p:spPr>
          <a:xfrm>
            <a:off x="3200400" y="5180112"/>
            <a:ext cx="3429000" cy="2724894"/>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 card legal background"/>
          <p:cNvSpPr/>
          <p:nvPr/>
        </p:nvSpPr>
        <p:spPr>
          <a:xfrm>
            <a:off x="3456384" y="5341739"/>
            <a:ext cx="2917031" cy="1036439"/>
          </a:xfrm>
          <a:prstGeom prst="roundRect">
            <a:avLst>
              <a:gd name="adj" fmla="val 3970"/>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 left rule"/>
          <p:cNvSpPr/>
          <p:nvPr/>
        </p:nvSpPr>
        <p:spPr>
          <a:xfrm>
            <a:off x="3456384" y="5341739"/>
            <a:ext cx="19050" cy="1036439"/>
          </a:xfrm>
          <a:prstGeom prst="rect">
            <a:avLst/>
          </a:prstGeom>
          <a:solidFill>
            <a:srgbClr val="FFFFFF">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 addr"/>
          <p:cNvSpPr txBox="1"/>
          <p:nvPr/>
        </p:nvSpPr>
        <p:spPr>
          <a:xfrm>
            <a:off x="3594199" y="5451425"/>
            <a:ext cx="2759315" cy="125462"/>
          </a:xfrm>
          <a:prstGeom prst="rect">
            <a:avLst/>
          </a:prstGeom>
          <a:noFill/>
        </p:spPr>
        <p:txBody>
          <a:bodyPr wrap="square" lIns="0" rIns="0" tIns="0" bIns="0">
            <a:noAutofit/>
          </a:bodyPr>
          <a:lstStyle/>
          <a:p>
            <a:pPr algn="l">
              <a:lnSpc>
                <a:spcPts val="987"/>
              </a:lnSpc>
            </a:pPr>
            <a:r>
              <a:rPr sz="750" b="1" i="0">
                <a:solidFill>
                  <a:srgbClr val="FFFFFF"/>
                </a:solidFill>
                <a:latin typeface="Montserrat"/>
              </a:rPr>
              <a:t>info@soilfoodweb.com · (503) 809-2349</a:t>
            </a:r>
          </a:p>
        </p:txBody>
      </p:sp>
      <p:sp>
        <p:nvSpPr>
          <p:cNvPr id="46" name="text: addr"/>
          <p:cNvSpPr txBox="1"/>
          <p:nvPr/>
        </p:nvSpPr>
        <p:spPr>
          <a:xfrm>
            <a:off x="3594199" y="5617964"/>
            <a:ext cx="2759315" cy="376386"/>
          </a:xfrm>
          <a:prstGeom prst="rect">
            <a:avLst/>
          </a:prstGeom>
          <a:noFill/>
        </p:spPr>
        <p:txBody>
          <a:bodyPr wrap="square" lIns="0" rIns="0" tIns="0" bIns="0">
            <a:noAutofit/>
          </a:bodyPr>
          <a:lstStyle/>
          <a:p>
            <a:pPr algn="l">
              <a:lnSpc>
                <a:spcPts val="987"/>
              </a:lnSpc>
            </a:pPr>
            <a:r>
              <a:rPr sz="750" b="1" i="0">
                <a:solidFill>
                  <a:srgbClr val="FFFFFF"/>
                </a:solidFill>
                <a:latin typeface="Montserrat"/>
              </a:rPr>
              <a:t>5441 S Macadam Ave Ste N</a:t>
            </a:r>
          </a:p>
          <a:p>
            <a:pPr algn="l">
              <a:lnSpc>
                <a:spcPts val="987"/>
              </a:lnSpc>
            </a:pPr>
            <a:r>
              <a:rPr sz="750" b="1" i="0">
                <a:solidFill>
                  <a:srgbClr val="FFFFFF"/>
                </a:solidFill>
                <a:latin typeface="Montserrat"/>
              </a:rPr>
              <a:t>Portland, Oregon 97239</a:t>
            </a:r>
          </a:p>
          <a:p>
            <a:pPr algn="l">
              <a:lnSpc>
                <a:spcPts val="987"/>
              </a:lnSpc>
            </a:pPr>
            <a:r>
              <a:rPr sz="750" b="1" i="0">
                <a:solidFill>
                  <a:srgbClr val="FFFFFF"/>
                </a:solidFill>
                <a:latin typeface="Montserrat"/>
              </a:rPr>
              <a:t>soilfoodweb.com</a:t>
            </a:r>
          </a:p>
        </p:txBody>
      </p:sp>
      <p:sp>
        <p:nvSpPr>
          <p:cNvPr id="47" name="text: p"/>
          <p:cNvSpPr txBox="1"/>
          <p:nvPr/>
        </p:nvSpPr>
        <p:spPr>
          <a:xfrm>
            <a:off x="3594199" y="6035427"/>
            <a:ext cx="2759315" cy="233065"/>
          </a:xfrm>
          <a:prstGeom prst="rect">
            <a:avLst/>
          </a:prstGeom>
          <a:noFill/>
        </p:spPr>
        <p:txBody>
          <a:bodyPr wrap="square" lIns="0" rIns="0" tIns="0" bIns="0">
            <a:noAutofit/>
          </a:bodyPr>
          <a:lstStyle/>
          <a:p>
            <a:pPr algn="l">
              <a:lnSpc>
                <a:spcPts val="918"/>
              </a:lnSpc>
            </a:pPr>
            <a:r>
              <a:rPr sz="700" b="0" i="0">
                <a:solidFill>
                  <a:srgbClr val="FFFFFF">
                    <a:alpha val="82000"/>
                  </a:srgbClr>
                </a:solidFill>
                <a:latin typeface="Source Sans 3"/>
              </a:rPr>
              <a:t>Soil Food Web Foundation is a 501(c)(3) nonprofit organization, EIN </a:t>
            </a:r>
            <a:r>
              <a:rPr sz="700" b="0" i="0">
                <a:solidFill>
                  <a:srgbClr val="FFFFFF">
                    <a:alpha val="82000"/>
                  </a:srgbClr>
                </a:solidFill>
                <a:latin typeface="Source Sans 3"/>
              </a:rPr>
              <a:t>39-4439236</a:t>
            </a:r>
            <a:r>
              <a:rPr sz="700" b="0" i="0">
                <a:solidFill>
                  <a:srgbClr val="FFFFFF">
                    <a:alpha val="82000"/>
                  </a:srgbClr>
                </a:solidFill>
                <a:latin typeface="Source Sans 3"/>
              </a:rPr>
              <a:t>. The Soil Food Web School is a program of the Foundation.</a:t>
            </a:r>
          </a:p>
        </p:txBody>
      </p:sp>
      <p:pic>
        <p:nvPicPr>
          <p:cNvPr id="48" name="image: brochure-website.svg" descr="outside-010.png"/>
          <p:cNvPicPr>
            <a:picLocks noChangeAspect="1"/>
          </p:cNvPicPr>
          <p:nvPr/>
        </p:nvPicPr>
        <p:blipFill>
          <a:blip r:embed="rId12"/>
          <a:stretch>
            <a:fillRect/>
          </a:stretch>
        </p:blipFill>
        <p:spPr>
          <a:xfrm>
            <a:off x="3456384" y="6464945"/>
            <a:ext cx="1051471" cy="1051471"/>
          </a:xfrm>
          <a:prstGeom prst="rect">
            <a:avLst/>
          </a:prstGeom>
        </p:spPr>
      </p:pic>
      <p:sp>
        <p:nvSpPr>
          <p:cNvPr id="49" name="text: t"/>
          <p:cNvSpPr txBox="1"/>
          <p:nvPr/>
        </p:nvSpPr>
        <p:spPr>
          <a:xfrm>
            <a:off x="4617541" y="6650980"/>
            <a:ext cx="1827600" cy="132457"/>
          </a:xfrm>
          <a:prstGeom prst="rect">
            <a:avLst/>
          </a:prstGeom>
          <a:noFill/>
        </p:spPr>
        <p:txBody>
          <a:bodyPr wrap="square" lIns="0" rIns="0" tIns="0" bIns="0">
            <a:noAutofit/>
          </a:bodyPr>
          <a:lstStyle/>
          <a:p>
            <a:pPr algn="l">
              <a:lnSpc>
                <a:spcPts val="1044"/>
              </a:lnSpc>
            </a:pPr>
            <a:r>
              <a:rPr sz="900" b="1" i="0">
                <a:solidFill>
                  <a:srgbClr val="FFFFFF"/>
                </a:solidFill>
                <a:latin typeface="Montserrat"/>
              </a:rPr>
              <a:t>Learn more</a:t>
            </a:r>
          </a:p>
        </p:txBody>
      </p:sp>
      <p:sp>
        <p:nvSpPr>
          <p:cNvPr id="50" name="text: d"/>
          <p:cNvSpPr txBox="1"/>
          <p:nvPr/>
        </p:nvSpPr>
        <p:spPr>
          <a:xfrm>
            <a:off x="4617541" y="6815435"/>
            <a:ext cx="1827600" cy="360313"/>
          </a:xfrm>
          <a:prstGeom prst="rect">
            <a:avLst/>
          </a:prstGeom>
          <a:noFill/>
        </p:spPr>
        <p:txBody>
          <a:bodyPr wrap="square" lIns="0" rIns="0" tIns="0" bIns="0">
            <a:noAutofit/>
          </a:bodyPr>
          <a:lstStyle/>
          <a:p>
            <a:pPr algn="l">
              <a:lnSpc>
                <a:spcPts val="947"/>
              </a:lnSpc>
            </a:pPr>
            <a:r>
              <a:rPr sz="750" b="0" i="0">
                <a:solidFill>
                  <a:srgbClr val="FFFFFF">
                    <a:alpha val="86000"/>
                  </a:srgbClr>
                </a:solidFill>
                <a:latin typeface="Source Sans 3"/>
              </a:rPr>
              <a:t>Curious about the Soil Food Web approach? Visit our website to explore our courses, workshops, and free resources.</a:t>
            </a:r>
          </a:p>
        </p:txBody>
      </p:sp>
      <p:sp>
        <p:nvSpPr>
          <p:cNvPr id="51" name="text: h"/>
          <p:cNvSpPr txBox="1"/>
          <p:nvPr/>
        </p:nvSpPr>
        <p:spPr>
          <a:xfrm>
            <a:off x="4617541" y="7207746"/>
            <a:ext cx="1827600" cy="122486"/>
          </a:xfrm>
          <a:prstGeom prst="rect">
            <a:avLst/>
          </a:prstGeom>
          <a:noFill/>
        </p:spPr>
        <p:txBody>
          <a:bodyPr wrap="square" lIns="0" rIns="0" tIns="0" bIns="0">
            <a:noAutofit/>
          </a:bodyPr>
          <a:lstStyle/>
          <a:p>
            <a:pPr algn="l">
              <a:lnSpc>
                <a:spcPts val="966"/>
              </a:lnSpc>
            </a:pPr>
            <a:r>
              <a:rPr sz="700" b="0" i="1">
                <a:solidFill>
                  <a:srgbClr val="FFFFFF">
                    <a:alpha val="70000"/>
                  </a:srgbClr>
                </a:solidFill>
                <a:latin typeface="Source Sans 3"/>
              </a:rPr>
              <a:t>soilfoodweb.com</a:t>
            </a:r>
          </a:p>
        </p:txBody>
      </p:sp>
      <p:sp>
        <p:nvSpPr>
          <p:cNvPr id="52" name="rect: panel 1 ground"/>
          <p:cNvSpPr/>
          <p:nvPr/>
        </p:nvSpPr>
        <p:spPr>
          <a:xfrm>
            <a:off x="6629400" y="-114300"/>
            <a:ext cx="3543300" cy="800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 mast banner banner--mast background"/>
          <p:cNvSpPr/>
          <p:nvPr/>
        </p:nvSpPr>
        <p:spPr>
          <a:xfrm>
            <a:off x="6629400" y="-132606"/>
            <a:ext cx="3561606" cy="1028700"/>
          </a:xfrm>
          <a:prstGeom prst="rect">
            <a:avLst/>
          </a:prstGeom>
          <a:solidFill>
            <a:srgbClr val="E6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image: sfwlogo-240.png" descr="outside-011.png"/>
          <p:cNvPicPr>
            <a:picLocks noChangeAspect="1"/>
          </p:cNvPicPr>
          <p:nvPr/>
        </p:nvPicPr>
        <p:blipFill>
          <a:blip r:embed="rId13"/>
          <a:stretch>
            <a:fillRect/>
          </a:stretch>
        </p:blipFill>
        <p:spPr>
          <a:xfrm>
            <a:off x="6885384" y="103584"/>
            <a:ext cx="731490" cy="633859"/>
          </a:xfrm>
          <a:prstGeom prst="rect">
            <a:avLst/>
          </a:prstGeom>
        </p:spPr>
      </p:pic>
      <p:sp>
        <p:nvSpPr>
          <p:cNvPr id="55" name="text: wordmark"/>
          <p:cNvSpPr txBox="1"/>
          <p:nvPr/>
        </p:nvSpPr>
        <p:spPr>
          <a:xfrm>
            <a:off x="7708255" y="178743"/>
            <a:ext cx="1112029" cy="329803"/>
          </a:xfrm>
          <a:prstGeom prst="rect">
            <a:avLst/>
          </a:prstGeom>
          <a:noFill/>
        </p:spPr>
        <p:txBody>
          <a:bodyPr wrap="square" lIns="0" rIns="0" tIns="0" bIns="0">
            <a:noAutofit/>
          </a:bodyPr>
          <a:lstStyle/>
          <a:p>
            <a:pPr algn="l">
              <a:lnSpc>
                <a:spcPts val="1299"/>
              </a:lnSpc>
            </a:pPr>
            <a:r>
              <a:rPr sz="1150" b="1" i="0" spc="-9">
                <a:solidFill>
                  <a:srgbClr val="4F3433"/>
                </a:solidFill>
                <a:latin typeface="Montserrat"/>
              </a:rPr>
              <a:t>Soil Food Web</a:t>
            </a:r>
          </a:p>
          <a:p>
            <a:pPr algn="l">
              <a:lnSpc>
                <a:spcPts val="1299"/>
              </a:lnSpc>
            </a:pPr>
            <a:r>
              <a:rPr sz="1150" b="1" i="0" spc="-9">
                <a:solidFill>
                  <a:srgbClr val="4F3433"/>
                </a:solidFill>
                <a:latin typeface="Montserrat"/>
              </a:rPr>
              <a:t>Foundation</a:t>
            </a:r>
          </a:p>
        </p:txBody>
      </p:sp>
      <p:sp>
        <p:nvSpPr>
          <p:cNvPr id="56" name="text: sub"/>
          <p:cNvSpPr txBox="1"/>
          <p:nvPr/>
        </p:nvSpPr>
        <p:spPr>
          <a:xfrm>
            <a:off x="7708255" y="522238"/>
            <a:ext cx="1112029" cy="140196"/>
          </a:xfrm>
          <a:prstGeom prst="rect">
            <a:avLst/>
          </a:prstGeom>
          <a:noFill/>
        </p:spPr>
        <p:txBody>
          <a:bodyPr wrap="square" lIns="0" rIns="0" tIns="0" bIns="0">
            <a:noAutofit/>
          </a:bodyPr>
          <a:lstStyle/>
          <a:p>
            <a:pPr algn="l">
              <a:lnSpc>
                <a:spcPts val="1104"/>
              </a:lnSpc>
            </a:pPr>
            <a:r>
              <a:rPr sz="800" b="0" i="1">
                <a:solidFill>
                  <a:srgbClr val="6A665C"/>
                </a:solidFill>
                <a:latin typeface="Source Sans 3"/>
              </a:rPr>
              <a:t>A 501(c)(3) nonprofit</a:t>
            </a:r>
          </a:p>
        </p:txBody>
      </p:sp>
      <p:pic>
        <p:nvPicPr>
          <p:cNvPr id="57" name="image: handling-loose-soil.jpg" descr="outside-012.png"/>
          <p:cNvPicPr>
            <a:picLocks noChangeAspect="1"/>
          </p:cNvPicPr>
          <p:nvPr/>
        </p:nvPicPr>
        <p:blipFill>
          <a:blip r:embed="rId14"/>
          <a:stretch>
            <a:fillRect/>
          </a:stretch>
        </p:blipFill>
        <p:spPr>
          <a:xfrm>
            <a:off x="6629400" y="896094"/>
            <a:ext cx="3561606" cy="1097161"/>
          </a:xfrm>
          <a:prstGeom prst="rect">
            <a:avLst/>
          </a:prstGeom>
        </p:spPr>
      </p:pic>
      <p:sp>
        <p:nvSpPr>
          <p:cNvPr id="58" name="text: h1"/>
          <p:cNvSpPr txBox="1"/>
          <p:nvPr/>
        </p:nvSpPr>
        <p:spPr>
          <a:xfrm>
            <a:off x="6885384" y="2048024"/>
            <a:ext cx="3023592" cy="548580"/>
          </a:xfrm>
          <a:prstGeom prst="rect">
            <a:avLst/>
          </a:prstGeom>
          <a:noFill/>
        </p:spPr>
        <p:txBody>
          <a:bodyPr wrap="square" lIns="0" rIns="0" tIns="0" bIns="0">
            <a:noAutofit/>
          </a:bodyPr>
          <a:lstStyle/>
          <a:p>
            <a:pPr algn="l">
              <a:lnSpc>
                <a:spcPts val="2160"/>
              </a:lnSpc>
            </a:pPr>
            <a:r>
              <a:rPr sz="2000" b="1" i="0" spc="-12">
                <a:solidFill>
                  <a:srgbClr val="4F3433"/>
                </a:solidFill>
                <a:latin typeface="Montserrat"/>
              </a:rPr>
              <a:t>Grow your own</a:t>
            </a:r>
          </a:p>
          <a:p>
            <a:pPr algn="l">
              <a:lnSpc>
                <a:spcPts val="2160"/>
              </a:lnSpc>
            </a:pPr>
            <a:r>
              <a:rPr sz="2000" b="1" i="0" spc="-12">
                <a:solidFill>
                  <a:srgbClr val="4F3433"/>
                </a:solidFill>
                <a:latin typeface="Montserrat"/>
              </a:rPr>
              <a:t>biology.</a:t>
            </a:r>
          </a:p>
        </p:txBody>
      </p:sp>
      <p:sp>
        <p:nvSpPr>
          <p:cNvPr id="59" name="text: subhead"/>
          <p:cNvSpPr txBox="1"/>
          <p:nvPr/>
        </p:nvSpPr>
        <p:spPr>
          <a:xfrm>
            <a:off x="6885384" y="2678757"/>
            <a:ext cx="3023592" cy="319980"/>
          </a:xfrm>
          <a:prstGeom prst="rect">
            <a:avLst/>
          </a:prstGeom>
          <a:noFill/>
        </p:spPr>
        <p:txBody>
          <a:bodyPr wrap="square" lIns="0" rIns="0" tIns="0" bIns="0">
            <a:noAutofit/>
          </a:bodyPr>
          <a:lstStyle/>
          <a:p>
            <a:pPr algn="l">
              <a:lnSpc>
                <a:spcPts val="1260"/>
              </a:lnSpc>
            </a:pPr>
            <a:r>
              <a:rPr sz="1050" b="1" i="0" spc="-6">
                <a:solidFill>
                  <a:srgbClr val="156826"/>
                </a:solidFill>
                <a:latin typeface="Montserrat"/>
              </a:rPr>
              <a:t>The soil beneath our farms and forests is alive.</a:t>
            </a:r>
          </a:p>
        </p:txBody>
      </p:sp>
      <p:sp>
        <p:nvSpPr>
          <p:cNvPr id="60" name="text: lede"/>
          <p:cNvSpPr txBox="1"/>
          <p:nvPr/>
        </p:nvSpPr>
        <p:spPr>
          <a:xfrm>
            <a:off x="6885384" y="3167658"/>
            <a:ext cx="3023592" cy="484882"/>
          </a:xfrm>
          <a:prstGeom prst="rect">
            <a:avLst/>
          </a:prstGeom>
          <a:noFill/>
        </p:spPr>
        <p:txBody>
          <a:bodyPr wrap="square" lIns="0" rIns="0" tIns="0" bIns="0">
            <a:noAutofit/>
          </a:bodyPr>
          <a:lstStyle/>
          <a:p>
            <a:pPr algn="l">
              <a:lnSpc>
                <a:spcPts val="1274"/>
              </a:lnSpc>
            </a:pPr>
            <a:r>
              <a:rPr sz="1000" b="0" i="0">
                <a:solidFill>
                  <a:srgbClr val="333130"/>
                </a:solidFill>
                <a:latin typeface="Source Sans 3"/>
              </a:rPr>
              <a:t>A web of bacteria, fungi, protozoa, nematodes and microarthropods feeds plants, builds soil, stores carbon and cleans water </a:t>
            </a:r>
            <a:r>
              <a:rPr sz="1000" b="0" i="1">
                <a:solidFill>
                  <a:srgbClr val="333130"/>
                </a:solidFill>
                <a:latin typeface="Source Sans 3"/>
              </a:rPr>
              <a:t>when it is intact</a:t>
            </a:r>
            <a:r>
              <a:rPr sz="1000" b="0" i="0">
                <a:solidFill>
                  <a:srgbClr val="333130"/>
                </a:solidFill>
                <a:latin typeface="Source Sans 3"/>
              </a:rPr>
              <a:t>.</a:t>
            </a:r>
          </a:p>
        </p:txBody>
      </p:sp>
      <p:sp>
        <p:nvSpPr>
          <p:cNvPr id="61" name="text: p"/>
          <p:cNvSpPr txBox="1"/>
          <p:nvPr/>
        </p:nvSpPr>
        <p:spPr>
          <a:xfrm>
            <a:off x="6885384" y="3707309"/>
            <a:ext cx="3023592" cy="735955"/>
          </a:xfrm>
          <a:prstGeom prst="rect">
            <a:avLst/>
          </a:prstGeom>
          <a:noFill/>
        </p:spPr>
        <p:txBody>
          <a:bodyPr wrap="square" lIns="0" rIns="0" tIns="0" bIns="0">
            <a:noAutofit/>
          </a:bodyPr>
          <a:lstStyle/>
          <a:p>
            <a:pPr algn="l">
              <a:lnSpc>
                <a:spcPts val="1159"/>
              </a:lnSpc>
            </a:pPr>
            <a:r>
              <a:rPr sz="850" b="0" i="0">
                <a:solidFill>
                  <a:srgbClr val="333130"/>
                </a:solidFill>
                <a:latin typeface="Source Sans 3"/>
              </a:rPr>
              <a:t>We train farmers, and the people who work with them, to transition from chemical inputs to biology. You'll learn to test your soil, produce your own BioComplete™ compost and liquid amendments, and rebalance the microbial content of your fields. Living soil is the solution, and it is beneath your feet.</a:t>
            </a:r>
          </a:p>
        </p:txBody>
      </p:sp>
      <p:pic>
        <p:nvPicPr>
          <p:cNvPr id="62" name="image: icon #i-scholarship" descr="outside-013.png"/>
          <p:cNvPicPr>
            <a:picLocks noChangeAspect="1"/>
          </p:cNvPicPr>
          <p:nvPr/>
        </p:nvPicPr>
        <p:blipFill>
          <a:blip r:embed="rId15"/>
          <a:stretch>
            <a:fillRect/>
          </a:stretch>
        </p:blipFill>
        <p:spPr>
          <a:xfrm>
            <a:off x="7078563" y="4584799"/>
            <a:ext cx="274290" cy="274290"/>
          </a:xfrm>
          <a:prstGeom prst="rect">
            <a:avLst/>
          </a:prstGeom>
        </p:spPr>
      </p:pic>
      <p:sp>
        <p:nvSpPr>
          <p:cNvPr id="63" name="text: l"/>
          <p:cNvSpPr txBox="1"/>
          <p:nvPr/>
        </p:nvSpPr>
        <p:spPr>
          <a:xfrm>
            <a:off x="6885384" y="4900166"/>
            <a:ext cx="699671"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EDUCATION</a:t>
            </a:r>
          </a:p>
        </p:txBody>
      </p:sp>
      <p:pic>
        <p:nvPicPr>
          <p:cNvPr id="64" name="image: icon #i-flask" descr="outside-014.png"/>
          <p:cNvPicPr>
            <a:picLocks noChangeAspect="1"/>
          </p:cNvPicPr>
          <p:nvPr/>
        </p:nvPicPr>
        <p:blipFill>
          <a:blip r:embed="rId16"/>
          <a:stretch>
            <a:fillRect/>
          </a:stretch>
        </p:blipFill>
        <p:spPr>
          <a:xfrm>
            <a:off x="7830741" y="4584799"/>
            <a:ext cx="274290" cy="274290"/>
          </a:xfrm>
          <a:prstGeom prst="rect">
            <a:avLst/>
          </a:prstGeom>
        </p:spPr>
      </p:pic>
      <p:sp>
        <p:nvSpPr>
          <p:cNvPr id="65" name="text: l"/>
          <p:cNvSpPr txBox="1"/>
          <p:nvPr/>
        </p:nvSpPr>
        <p:spPr>
          <a:xfrm>
            <a:off x="7637562" y="4900166"/>
            <a:ext cx="699671"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RESEARCH</a:t>
            </a:r>
          </a:p>
        </p:txBody>
      </p:sp>
      <p:pic>
        <p:nvPicPr>
          <p:cNvPr id="66" name="image: icon #i-weed" descr="outside-015.png"/>
          <p:cNvPicPr>
            <a:picLocks noChangeAspect="1"/>
          </p:cNvPicPr>
          <p:nvPr/>
        </p:nvPicPr>
        <p:blipFill>
          <a:blip r:embed="rId17"/>
          <a:stretch>
            <a:fillRect/>
          </a:stretch>
        </p:blipFill>
        <p:spPr>
          <a:xfrm>
            <a:off x="8582918" y="4584799"/>
            <a:ext cx="274290" cy="274290"/>
          </a:xfrm>
          <a:prstGeom prst="rect">
            <a:avLst/>
          </a:prstGeom>
        </p:spPr>
      </p:pic>
      <p:sp>
        <p:nvSpPr>
          <p:cNvPr id="67" name="text: l"/>
          <p:cNvSpPr txBox="1"/>
          <p:nvPr/>
        </p:nvSpPr>
        <p:spPr>
          <a:xfrm>
            <a:off x="8389739" y="4900166"/>
            <a:ext cx="699671"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PRACTICE</a:t>
            </a:r>
          </a:p>
        </p:txBody>
      </p:sp>
      <p:pic>
        <p:nvPicPr>
          <p:cNvPr id="68" name="image: icon #i-web" descr="outside-016.png"/>
          <p:cNvPicPr>
            <a:picLocks noChangeAspect="1"/>
          </p:cNvPicPr>
          <p:nvPr/>
        </p:nvPicPr>
        <p:blipFill>
          <a:blip r:embed="rId18"/>
          <a:stretch>
            <a:fillRect/>
          </a:stretch>
        </p:blipFill>
        <p:spPr>
          <a:xfrm>
            <a:off x="9335095" y="4584799"/>
            <a:ext cx="274290" cy="274290"/>
          </a:xfrm>
          <a:prstGeom prst="rect">
            <a:avLst/>
          </a:prstGeom>
        </p:spPr>
      </p:pic>
      <p:sp>
        <p:nvSpPr>
          <p:cNvPr id="69" name="text: l"/>
          <p:cNvSpPr txBox="1"/>
          <p:nvPr/>
        </p:nvSpPr>
        <p:spPr>
          <a:xfrm>
            <a:off x="9141916" y="4900166"/>
            <a:ext cx="699671" cy="91232"/>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COMMUNITY</a:t>
            </a:r>
          </a:p>
        </p:txBody>
      </p:sp>
      <p:sp>
        <p:nvSpPr>
          <p:cNvPr id="70" name="rect: field field--flush field--foot background"/>
          <p:cNvSpPr/>
          <p:nvPr/>
        </p:nvSpPr>
        <p:spPr>
          <a:xfrm>
            <a:off x="6629400" y="5180112"/>
            <a:ext cx="3561606" cy="2724894"/>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 n"/>
          <p:cNvSpPr txBox="1"/>
          <p:nvPr/>
        </p:nvSpPr>
        <p:spPr>
          <a:xfrm>
            <a:off x="6885384" y="5538936"/>
            <a:ext cx="3023592" cy="215950"/>
          </a:xfrm>
          <a:prstGeom prst="rect">
            <a:avLst/>
          </a:prstGeom>
          <a:noFill/>
        </p:spPr>
        <p:txBody>
          <a:bodyPr wrap="square" lIns="0" rIns="0" tIns="0" bIns="0">
            <a:noAutofit/>
          </a:bodyPr>
          <a:lstStyle/>
          <a:p>
            <a:pPr algn="l">
              <a:lnSpc>
                <a:spcPts val="1700"/>
              </a:lnSpc>
            </a:pPr>
            <a:r>
              <a:rPr sz="1700" b="1" i="0" spc="-33">
                <a:solidFill>
                  <a:srgbClr val="FFFFFF"/>
                </a:solidFill>
                <a:latin typeface="Montserrat"/>
              </a:rPr>
              <a:t>132+</a:t>
            </a:r>
          </a:p>
        </p:txBody>
      </p:sp>
      <p:sp>
        <p:nvSpPr>
          <p:cNvPr id="72" name="text: l"/>
          <p:cNvSpPr txBox="1"/>
          <p:nvPr/>
        </p:nvSpPr>
        <p:spPr>
          <a:xfrm>
            <a:off x="6885384" y="5786884"/>
            <a:ext cx="3023592" cy="124271"/>
          </a:xfrm>
          <a:prstGeom prst="rect">
            <a:avLst/>
          </a:prstGeom>
          <a:noFill/>
        </p:spPr>
        <p:txBody>
          <a:bodyPr wrap="square" lIns="0" rIns="0" tIns="0" bIns="0">
            <a:noAutofit/>
          </a:bodyPr>
          <a:lstStyle/>
          <a:p>
            <a:pPr algn="l">
              <a:lnSpc>
                <a:spcPts val="979"/>
              </a:lnSpc>
            </a:pPr>
            <a:r>
              <a:rPr sz="800" b="0" i="0">
                <a:solidFill>
                  <a:srgbClr val="FFFFFF">
                    <a:alpha val="86000"/>
                  </a:srgbClr>
                </a:solidFill>
                <a:latin typeface="Source Sans 3"/>
              </a:rPr>
              <a:t>Countries in our student and practitioner community</a:t>
            </a:r>
          </a:p>
        </p:txBody>
      </p:sp>
      <p:sp>
        <p:nvSpPr>
          <p:cNvPr id="73" name="rect: hairline"/>
          <p:cNvSpPr/>
          <p:nvPr/>
        </p:nvSpPr>
        <p:spPr>
          <a:xfrm>
            <a:off x="6885384" y="5965924"/>
            <a:ext cx="2917031" cy="9525"/>
          </a:xfrm>
          <a:prstGeom prst="rect">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 n"/>
          <p:cNvSpPr txBox="1"/>
          <p:nvPr/>
        </p:nvSpPr>
        <p:spPr>
          <a:xfrm>
            <a:off x="6885384" y="6030218"/>
            <a:ext cx="3023592" cy="215950"/>
          </a:xfrm>
          <a:prstGeom prst="rect">
            <a:avLst/>
          </a:prstGeom>
          <a:noFill/>
        </p:spPr>
        <p:txBody>
          <a:bodyPr wrap="square" lIns="0" rIns="0" tIns="0" bIns="0">
            <a:noAutofit/>
          </a:bodyPr>
          <a:lstStyle/>
          <a:p>
            <a:pPr algn="l">
              <a:lnSpc>
                <a:spcPts val="1700"/>
              </a:lnSpc>
            </a:pPr>
            <a:r>
              <a:rPr sz="1700" b="1" i="0" spc="-33">
                <a:solidFill>
                  <a:srgbClr val="FFFFFF"/>
                </a:solidFill>
                <a:latin typeface="Montserrat"/>
              </a:rPr>
              <a:t>10,000+</a:t>
            </a:r>
          </a:p>
        </p:txBody>
      </p:sp>
      <p:sp>
        <p:nvSpPr>
          <p:cNvPr id="75" name="text: l"/>
          <p:cNvSpPr txBox="1"/>
          <p:nvPr/>
        </p:nvSpPr>
        <p:spPr>
          <a:xfrm>
            <a:off x="6885384" y="6278166"/>
            <a:ext cx="3023592" cy="124271"/>
          </a:xfrm>
          <a:prstGeom prst="rect">
            <a:avLst/>
          </a:prstGeom>
          <a:noFill/>
        </p:spPr>
        <p:txBody>
          <a:bodyPr wrap="square" lIns="0" rIns="0" tIns="0" bIns="0">
            <a:noAutofit/>
          </a:bodyPr>
          <a:lstStyle/>
          <a:p>
            <a:pPr algn="l">
              <a:lnSpc>
                <a:spcPts val="979"/>
              </a:lnSpc>
            </a:pPr>
            <a:r>
              <a:rPr sz="800" b="0" i="0">
                <a:solidFill>
                  <a:srgbClr val="FFFFFF">
                    <a:alpha val="86000"/>
                  </a:srgbClr>
                </a:solidFill>
                <a:latin typeface="Source Sans 3"/>
              </a:rPr>
              <a:t>Individuals enrolled in our programs</a:t>
            </a:r>
          </a:p>
        </p:txBody>
      </p:sp>
      <p:sp>
        <p:nvSpPr>
          <p:cNvPr id="76" name="rect: hairline"/>
          <p:cNvSpPr/>
          <p:nvPr/>
        </p:nvSpPr>
        <p:spPr>
          <a:xfrm>
            <a:off x="6885384" y="6457206"/>
            <a:ext cx="2917031" cy="9525"/>
          </a:xfrm>
          <a:prstGeom prst="rect">
            <a:avLst/>
          </a:prstGeom>
          <a:solidFill>
            <a:srgbClr val="FFFFFF">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 n"/>
          <p:cNvSpPr txBox="1"/>
          <p:nvPr/>
        </p:nvSpPr>
        <p:spPr>
          <a:xfrm>
            <a:off x="6885384" y="6521500"/>
            <a:ext cx="3023592" cy="215950"/>
          </a:xfrm>
          <a:prstGeom prst="rect">
            <a:avLst/>
          </a:prstGeom>
          <a:noFill/>
        </p:spPr>
        <p:txBody>
          <a:bodyPr wrap="square" lIns="0" rIns="0" tIns="0" bIns="0">
            <a:noAutofit/>
          </a:bodyPr>
          <a:lstStyle/>
          <a:p>
            <a:pPr algn="l">
              <a:lnSpc>
                <a:spcPts val="1700"/>
              </a:lnSpc>
            </a:pPr>
            <a:r>
              <a:rPr sz="1700" b="1" i="0" spc="-33">
                <a:solidFill>
                  <a:srgbClr val="FFFFFF"/>
                </a:solidFill>
                <a:latin typeface="Montserrat"/>
              </a:rPr>
              <a:t>45</a:t>
            </a:r>
          </a:p>
        </p:txBody>
      </p:sp>
      <p:sp>
        <p:nvSpPr>
          <p:cNvPr id="78" name="text: l"/>
          <p:cNvSpPr txBox="1"/>
          <p:nvPr/>
        </p:nvSpPr>
        <p:spPr>
          <a:xfrm>
            <a:off x="6885384" y="6769447"/>
            <a:ext cx="3023592" cy="124271"/>
          </a:xfrm>
          <a:prstGeom prst="rect">
            <a:avLst/>
          </a:prstGeom>
          <a:noFill/>
        </p:spPr>
        <p:txBody>
          <a:bodyPr wrap="square" lIns="0" rIns="0" tIns="0" bIns="0">
            <a:noAutofit/>
          </a:bodyPr>
          <a:lstStyle/>
          <a:p>
            <a:pPr algn="l">
              <a:lnSpc>
                <a:spcPts val="979"/>
              </a:lnSpc>
            </a:pPr>
            <a:r>
              <a:rPr sz="800" b="0" i="0">
                <a:solidFill>
                  <a:srgbClr val="FFFFFF">
                    <a:alpha val="86000"/>
                  </a:srgbClr>
                </a:solidFill>
                <a:latin typeface="Source Sans 3"/>
              </a:rPr>
              <a:t>Years of soil biology research behind the method</a:t>
            </a:r>
          </a:p>
        </p:txBody>
      </p:sp>
      <p:sp>
        <p:nvSpPr>
          <p:cNvPr id="79" name="text: tagline"/>
          <p:cNvSpPr txBox="1"/>
          <p:nvPr/>
        </p:nvSpPr>
        <p:spPr>
          <a:xfrm>
            <a:off x="6885384" y="7021711"/>
            <a:ext cx="3023592" cy="494705"/>
          </a:xfrm>
          <a:prstGeom prst="rect">
            <a:avLst/>
          </a:prstGeom>
          <a:noFill/>
        </p:spPr>
        <p:txBody>
          <a:bodyPr wrap="square" lIns="0" rIns="0" tIns="0" bIns="0">
            <a:noAutofit/>
          </a:bodyPr>
          <a:lstStyle/>
          <a:p>
            <a:pPr algn="l">
              <a:lnSpc>
                <a:spcPts val="1299"/>
              </a:lnSpc>
            </a:pPr>
            <a:r>
              <a:rPr sz="1000" b="1" i="0" spc="-3">
                <a:solidFill>
                  <a:srgbClr val="FFFFFF"/>
                </a:solidFill>
                <a:latin typeface="Montserrat"/>
              </a:rPr>
              <a:t>Healing soil.</a:t>
            </a:r>
          </a:p>
          <a:p>
            <a:pPr algn="l">
              <a:lnSpc>
                <a:spcPts val="1299"/>
              </a:lnSpc>
            </a:pPr>
            <a:r>
              <a:rPr sz="1000" b="1" i="0" spc="-3">
                <a:solidFill>
                  <a:srgbClr val="FFFFFF"/>
                </a:solidFill>
                <a:latin typeface="Montserrat"/>
              </a:rPr>
              <a:t>Feeding humanity.</a:t>
            </a:r>
          </a:p>
          <a:p>
            <a:pPr algn="l">
              <a:lnSpc>
                <a:spcPts val="1299"/>
              </a:lnSpc>
            </a:pPr>
            <a:r>
              <a:rPr sz="1000" b="1" i="0" spc="-3">
                <a:solidFill>
                  <a:srgbClr val="FFFFFF"/>
                </a:solidFill>
                <a:latin typeface="Montserrat"/>
              </a:rPr>
              <a:t>Restoring the living world.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 panel 2 ground"/>
          <p:cNvSpPr/>
          <p:nvPr/>
        </p:nvSpPr>
        <p:spPr>
          <a:xfrm>
            <a:off x="-114300" y="-114300"/>
            <a:ext cx="3543300" cy="8001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 panel 2 colour field"/>
          <p:cNvSpPr/>
          <p:nvPr/>
        </p:nvSpPr>
        <p:spPr>
          <a:xfrm>
            <a:off x="-114300" y="-114300"/>
            <a:ext cx="3543300" cy="8001000"/>
          </a:xfrm>
          <a:prstGeom prst="rect">
            <a:avLst/>
          </a:prstGeom>
          <a:gradFill rotWithShape="1">
            <a:gsLst>
              <a:gs pos="0">
                <a:srgbClr val="6B4C7A"/>
              </a:gs>
              <a:gs pos="100000">
                <a:srgbClr val="3F2C4B"/>
              </a:gs>
            </a:gsLst>
            <a:lin ang="46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eyebrow eyebrow--legacy"/>
          <p:cNvSpPr txBox="1"/>
          <p:nvPr/>
        </p:nvSpPr>
        <p:spPr>
          <a:xfrm>
            <a:off x="255984" y="260152"/>
            <a:ext cx="3023592"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PRACTICE</a:t>
            </a:r>
          </a:p>
        </p:txBody>
      </p:sp>
      <p:sp>
        <p:nvSpPr>
          <p:cNvPr id="5" name="text: h2"/>
          <p:cNvSpPr txBox="1"/>
          <p:nvPr/>
        </p:nvSpPr>
        <p:spPr>
          <a:xfrm>
            <a:off x="255984" y="422374"/>
            <a:ext cx="3023592"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Growers are implementing this at every scale.</a:t>
            </a:r>
          </a:p>
        </p:txBody>
      </p:sp>
      <p:pic>
        <p:nvPicPr>
          <p:cNvPr id="6" name="image: erc-rancho-cacachilas-agro.jpg" descr="inside-000.png"/>
          <p:cNvPicPr>
            <a:picLocks noChangeAspect="1"/>
          </p:cNvPicPr>
          <p:nvPr/>
        </p:nvPicPr>
        <p:blipFill>
          <a:blip r:embed="rId2"/>
          <a:stretch>
            <a:fillRect/>
          </a:stretch>
        </p:blipFill>
        <p:spPr>
          <a:xfrm>
            <a:off x="-132606" y="896094"/>
            <a:ext cx="3561606" cy="1097161"/>
          </a:xfrm>
          <a:prstGeom prst="rect">
            <a:avLst/>
          </a:prstGeom>
        </p:spPr>
      </p:pic>
      <p:pic>
        <p:nvPicPr>
          <p:cNvPr id="7" name="image: photo fade" descr="inside-001.png"/>
          <p:cNvPicPr>
            <a:picLocks noChangeAspect="1"/>
          </p:cNvPicPr>
          <p:nvPr/>
        </p:nvPicPr>
        <p:blipFill>
          <a:blip r:embed="rId3"/>
          <a:stretch>
            <a:fillRect/>
          </a:stretch>
        </p:blipFill>
        <p:spPr>
          <a:xfrm>
            <a:off x="-132606" y="1547217"/>
            <a:ext cx="3561606" cy="639961"/>
          </a:xfrm>
          <a:prstGeom prst="rect">
            <a:avLst/>
          </a:prstGeom>
        </p:spPr>
      </p:pic>
      <p:sp>
        <p:nvSpPr>
          <p:cNvPr id="8" name="text: caption"/>
          <p:cNvSpPr txBox="1"/>
          <p:nvPr/>
        </p:nvSpPr>
        <p:spPr>
          <a:xfrm>
            <a:off x="237679" y="2025253"/>
            <a:ext cx="3042447" cy="107156"/>
          </a:xfrm>
          <a:prstGeom prst="rect">
            <a:avLst/>
          </a:prstGeom>
          <a:noFill/>
        </p:spPr>
        <p:txBody>
          <a:bodyPr wrap="square" lIns="0" rIns="0" tIns="0" bIns="0">
            <a:noAutofit/>
          </a:bodyPr>
          <a:lstStyle/>
          <a:p>
            <a:pPr algn="l">
              <a:lnSpc>
                <a:spcPts val="844"/>
              </a:lnSpc>
            </a:pPr>
            <a:r>
              <a:rPr sz="650" b="0" i="1">
                <a:solidFill>
                  <a:srgbClr val="FFFFFF">
                    <a:alpha val="70000"/>
                  </a:srgbClr>
                </a:solidFill>
                <a:latin typeface="Source Sans 3"/>
              </a:rPr>
              <a:t>Agroecology plots at Rancho Cacachilas.</a:t>
            </a:r>
          </a:p>
        </p:txBody>
      </p:sp>
      <p:sp>
        <p:nvSpPr>
          <p:cNvPr id="9" name="text: lede"/>
          <p:cNvSpPr txBox="1"/>
          <p:nvPr/>
        </p:nvSpPr>
        <p:spPr>
          <a:xfrm>
            <a:off x="255984" y="2328714"/>
            <a:ext cx="3023592" cy="323255"/>
          </a:xfrm>
          <a:prstGeom prst="rect">
            <a:avLst/>
          </a:prstGeom>
          <a:noFill/>
        </p:spPr>
        <p:txBody>
          <a:bodyPr wrap="square" lIns="0" rIns="0" tIns="0" bIns="0">
            <a:noAutofit/>
          </a:bodyPr>
          <a:lstStyle/>
          <a:p>
            <a:pPr algn="l">
              <a:lnSpc>
                <a:spcPts val="1274"/>
              </a:lnSpc>
            </a:pPr>
            <a:r>
              <a:rPr sz="1000" b="0" i="0">
                <a:solidFill>
                  <a:srgbClr val="FFFFFF"/>
                </a:solidFill>
                <a:latin typeface="Source Sans 3"/>
              </a:rPr>
              <a:t>Growers like you are cutting inputs and improving soil, and documenting it.</a:t>
            </a:r>
          </a:p>
        </p:txBody>
      </p:sp>
      <p:sp>
        <p:nvSpPr>
          <p:cNvPr id="10" name="text: p"/>
          <p:cNvSpPr txBox="1"/>
          <p:nvPr/>
        </p:nvSpPr>
        <p:spPr>
          <a:xfrm>
            <a:off x="255984" y="2706737"/>
            <a:ext cx="3023592" cy="441573"/>
          </a:xfrm>
          <a:prstGeom prst="rect">
            <a:avLst/>
          </a:prstGeom>
          <a:noFill/>
        </p:spPr>
        <p:txBody>
          <a:bodyPr wrap="square" lIns="0" rIns="0" tIns="0" bIns="0">
            <a:noAutofit/>
          </a:bodyPr>
          <a:lstStyle/>
          <a:p>
            <a:pPr algn="l">
              <a:lnSpc>
                <a:spcPts val="1159"/>
              </a:lnSpc>
            </a:pPr>
            <a:r>
              <a:rPr sz="850" b="0" i="0">
                <a:solidFill>
                  <a:srgbClr val="FFFFFF"/>
                </a:solidFill>
                <a:latin typeface="Source Sans 3"/>
              </a:rPr>
              <a:t>The basic methodology is universal; the application is based upon locally-sourced materials. Whether you tend a rooftop container or a thousand-acre farm, the principle is the same.</a:t>
            </a:r>
          </a:p>
        </p:txBody>
      </p:sp>
      <p:sp>
        <p:nvSpPr>
          <p:cNvPr id="11" name="text: p"/>
          <p:cNvSpPr txBox="1"/>
          <p:nvPr/>
        </p:nvSpPr>
        <p:spPr>
          <a:xfrm>
            <a:off x="255984" y="3203079"/>
            <a:ext cx="3023592" cy="294382"/>
          </a:xfrm>
          <a:prstGeom prst="rect">
            <a:avLst/>
          </a:prstGeom>
          <a:noFill/>
        </p:spPr>
        <p:txBody>
          <a:bodyPr wrap="square" lIns="0" rIns="0" tIns="0" bIns="0">
            <a:noAutofit/>
          </a:bodyPr>
          <a:lstStyle/>
          <a:p>
            <a:pPr algn="l">
              <a:lnSpc>
                <a:spcPts val="1159"/>
              </a:lnSpc>
            </a:pPr>
            <a:r>
              <a:rPr sz="850" b="0" i="0">
                <a:solidFill>
                  <a:srgbClr val="FFFFFF"/>
                </a:solidFill>
                <a:latin typeface="Source Sans 3"/>
              </a:rPr>
              <a:t>Nick Padwick farms in Norfolk, England. Roberto Silva farms in Piura, Peru. Jenn Sirp grows in California.</a:t>
            </a:r>
          </a:p>
        </p:txBody>
      </p:sp>
      <p:pic>
        <p:nvPicPr>
          <p:cNvPr id="12" name="image: ctpfw-student-moving-compost-1.jpg" descr="inside-002.png"/>
          <p:cNvPicPr>
            <a:picLocks noChangeAspect="1"/>
          </p:cNvPicPr>
          <p:nvPr/>
        </p:nvPicPr>
        <p:blipFill>
          <a:blip r:embed="rId4"/>
          <a:stretch>
            <a:fillRect/>
          </a:stretch>
        </p:blipFill>
        <p:spPr>
          <a:xfrm>
            <a:off x="255984" y="3638996"/>
            <a:ext cx="923627" cy="749796"/>
          </a:xfrm>
          <a:prstGeom prst="rect">
            <a:avLst/>
          </a:prstGeom>
        </p:spPr>
      </p:pic>
      <p:pic>
        <p:nvPicPr>
          <p:cNvPr id="13" name="image: erc-panchmana-treeplanting-fb-img-1666270907385.jpg" descr="inside-003.png"/>
          <p:cNvPicPr>
            <a:picLocks noChangeAspect="1"/>
          </p:cNvPicPr>
          <p:nvPr/>
        </p:nvPicPr>
        <p:blipFill>
          <a:blip r:embed="rId5"/>
          <a:stretch>
            <a:fillRect/>
          </a:stretch>
        </p:blipFill>
        <p:spPr>
          <a:xfrm>
            <a:off x="1252686" y="3638996"/>
            <a:ext cx="923627" cy="749796"/>
          </a:xfrm>
          <a:prstGeom prst="rect">
            <a:avLst/>
          </a:prstGeom>
        </p:spPr>
      </p:pic>
      <p:pic>
        <p:nvPicPr>
          <p:cNvPr id="14" name="image: garden-vegetable-beds.jpg" descr="inside-004.png"/>
          <p:cNvPicPr>
            <a:picLocks noChangeAspect="1"/>
          </p:cNvPicPr>
          <p:nvPr/>
        </p:nvPicPr>
        <p:blipFill>
          <a:blip r:embed="rId6"/>
          <a:stretch>
            <a:fillRect/>
          </a:stretch>
        </p:blipFill>
        <p:spPr>
          <a:xfrm>
            <a:off x="2249388" y="3638996"/>
            <a:ext cx="923627" cy="749796"/>
          </a:xfrm>
          <a:prstGeom prst="rect">
            <a:avLst/>
          </a:prstGeom>
        </p:spPr>
      </p:pic>
      <p:sp>
        <p:nvSpPr>
          <p:cNvPr id="15" name="rect: card background"/>
          <p:cNvSpPr/>
          <p:nvPr/>
        </p:nvSpPr>
        <p:spPr>
          <a:xfrm>
            <a:off x="255984" y="4475559"/>
            <a:ext cx="2917031" cy="866626"/>
          </a:xfrm>
          <a:prstGeom prst="roundRect">
            <a:avLst>
              <a:gd name="adj" fmla="val 4748"/>
            </a:avLst>
          </a:prstGeom>
          <a:solidFill>
            <a:srgbClr val="FFFFFF">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 left rule"/>
          <p:cNvSpPr/>
          <p:nvPr/>
        </p:nvSpPr>
        <p:spPr>
          <a:xfrm>
            <a:off x="255984" y="4475559"/>
            <a:ext cx="19050" cy="866626"/>
          </a:xfrm>
          <a:prstGeom prst="rect">
            <a:avLst/>
          </a:prstGeom>
          <a:solidFill>
            <a:srgbClr val="FFFFFF">
              <a:alpha val="6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image: icon #i-person" descr="inside-005.png"/>
          <p:cNvPicPr>
            <a:picLocks noChangeAspect="1"/>
          </p:cNvPicPr>
          <p:nvPr/>
        </p:nvPicPr>
        <p:blipFill>
          <a:blip r:embed="rId7"/>
          <a:stretch>
            <a:fillRect/>
          </a:stretch>
        </p:blipFill>
        <p:spPr>
          <a:xfrm>
            <a:off x="393799" y="4585246"/>
            <a:ext cx="173682" cy="173682"/>
          </a:xfrm>
          <a:prstGeom prst="rect">
            <a:avLst/>
          </a:prstGeom>
        </p:spPr>
      </p:pic>
      <p:sp>
        <p:nvSpPr>
          <p:cNvPr id="18" name="text: h3"/>
          <p:cNvSpPr txBox="1"/>
          <p:nvPr/>
        </p:nvSpPr>
        <p:spPr>
          <a:xfrm>
            <a:off x="635943" y="4608016"/>
            <a:ext cx="2069497" cy="127992"/>
          </a:xfrm>
          <a:prstGeom prst="rect">
            <a:avLst/>
          </a:prstGeom>
          <a:noFill/>
        </p:spPr>
        <p:txBody>
          <a:bodyPr wrap="square" lIns="0" rIns="0" tIns="0" bIns="0">
            <a:noAutofit/>
          </a:bodyPr>
          <a:lstStyle/>
          <a:p>
            <a:pPr algn="l">
              <a:lnSpc>
                <a:spcPts val="1008"/>
              </a:lnSpc>
            </a:pPr>
            <a:r>
              <a:rPr sz="850" b="1" i="0">
                <a:solidFill>
                  <a:srgbClr val="FFFFFF"/>
                </a:solidFill>
                <a:latin typeface="Montserrat"/>
              </a:rPr>
              <a:t>Find a trained professional near you</a:t>
            </a:r>
          </a:p>
        </p:txBody>
      </p:sp>
      <p:sp>
        <p:nvSpPr>
          <p:cNvPr id="19" name="text: p"/>
          <p:cNvSpPr txBox="1"/>
          <p:nvPr/>
        </p:nvSpPr>
        <p:spPr>
          <a:xfrm>
            <a:off x="393799" y="4790926"/>
            <a:ext cx="2759315" cy="441573"/>
          </a:xfrm>
          <a:prstGeom prst="rect">
            <a:avLst/>
          </a:prstGeom>
          <a:noFill/>
        </p:spPr>
        <p:txBody>
          <a:bodyPr wrap="square" lIns="0" rIns="0" tIns="0" bIns="0">
            <a:noAutofit/>
          </a:bodyPr>
          <a:lstStyle/>
          <a:p>
            <a:pPr algn="l">
              <a:lnSpc>
                <a:spcPts val="1159"/>
              </a:lnSpc>
            </a:pPr>
            <a:r>
              <a:rPr sz="850" b="0" i="0">
                <a:solidFill>
                  <a:srgbClr val="FFFFFF"/>
                </a:solidFill>
                <a:latin typeface="Source Sans 3"/>
              </a:rPr>
              <a:t>Our graduates who complete their certifications to become consultants and lab-technicians are listed in our online directory. Hire an earned title, not a claim.</a:t>
            </a:r>
          </a:p>
        </p:txBody>
      </p:sp>
      <p:pic>
        <p:nvPicPr>
          <p:cNvPr id="20" name="image: case-studies-purple.svg" descr="inside-006.png"/>
          <p:cNvPicPr>
            <a:picLocks noChangeAspect="1"/>
          </p:cNvPicPr>
          <p:nvPr/>
        </p:nvPicPr>
        <p:blipFill>
          <a:blip r:embed="rId8"/>
          <a:stretch>
            <a:fillRect/>
          </a:stretch>
        </p:blipFill>
        <p:spPr>
          <a:xfrm>
            <a:off x="255984" y="6122343"/>
            <a:ext cx="1051471" cy="1051471"/>
          </a:xfrm>
          <a:prstGeom prst="rect">
            <a:avLst/>
          </a:prstGeom>
        </p:spPr>
      </p:pic>
      <p:sp>
        <p:nvSpPr>
          <p:cNvPr id="21" name="text: t"/>
          <p:cNvSpPr txBox="1"/>
          <p:nvPr/>
        </p:nvSpPr>
        <p:spPr>
          <a:xfrm>
            <a:off x="1417141" y="6122194"/>
            <a:ext cx="1827600" cy="264914"/>
          </a:xfrm>
          <a:prstGeom prst="rect">
            <a:avLst/>
          </a:prstGeom>
          <a:noFill/>
        </p:spPr>
        <p:txBody>
          <a:bodyPr wrap="square" lIns="0" rIns="0" tIns="0" bIns="0">
            <a:noAutofit/>
          </a:bodyPr>
          <a:lstStyle/>
          <a:p>
            <a:pPr algn="l">
              <a:lnSpc>
                <a:spcPts val="1044"/>
              </a:lnSpc>
            </a:pPr>
            <a:r>
              <a:rPr sz="900" b="1" i="0">
                <a:solidFill>
                  <a:srgbClr val="FFFFFF"/>
                </a:solidFill>
                <a:latin typeface="Montserrat"/>
              </a:rPr>
              <a:t>Watch a case study from your crop or region.</a:t>
            </a:r>
          </a:p>
        </p:txBody>
      </p:sp>
      <p:sp>
        <p:nvSpPr>
          <p:cNvPr id="22" name="text: d"/>
          <p:cNvSpPr txBox="1"/>
          <p:nvPr/>
        </p:nvSpPr>
        <p:spPr>
          <a:xfrm>
            <a:off x="1417141" y="6419106"/>
            <a:ext cx="1827600" cy="600521"/>
          </a:xfrm>
          <a:prstGeom prst="rect">
            <a:avLst/>
          </a:prstGeom>
          <a:noFill/>
        </p:spPr>
        <p:txBody>
          <a:bodyPr wrap="square" lIns="0" rIns="0" tIns="0" bIns="0">
            <a:noAutofit/>
          </a:bodyPr>
          <a:lstStyle/>
          <a:p>
            <a:pPr algn="l">
              <a:lnSpc>
                <a:spcPts val="947"/>
              </a:lnSpc>
            </a:pPr>
            <a:r>
              <a:rPr sz="750" b="0" i="0">
                <a:solidFill>
                  <a:srgbClr val="FFFFFF">
                    <a:alpha val="86000"/>
                  </a:srgbClr>
                </a:solidFill>
                <a:latin typeface="Source Sans 3"/>
              </a:rPr>
              <a:t>Hear growers explain in their own words how the Soil Food Web Approach changed their operations through reducing inputs, creating better outputs and improving their bottom lines.</a:t>
            </a:r>
          </a:p>
        </p:txBody>
      </p:sp>
      <p:sp>
        <p:nvSpPr>
          <p:cNvPr id="23" name="text: h"/>
          <p:cNvSpPr txBox="1"/>
          <p:nvPr/>
        </p:nvSpPr>
        <p:spPr>
          <a:xfrm>
            <a:off x="1417141" y="7051625"/>
            <a:ext cx="1827600" cy="122486"/>
          </a:xfrm>
          <a:prstGeom prst="rect">
            <a:avLst/>
          </a:prstGeom>
          <a:noFill/>
        </p:spPr>
        <p:txBody>
          <a:bodyPr wrap="square" lIns="0" rIns="0" tIns="0" bIns="0">
            <a:noAutofit/>
          </a:bodyPr>
          <a:lstStyle/>
          <a:p>
            <a:pPr algn="l">
              <a:lnSpc>
                <a:spcPts val="966"/>
              </a:lnSpc>
            </a:pPr>
            <a:r>
              <a:rPr sz="700" b="0" i="1">
                <a:solidFill>
                  <a:srgbClr val="FFFFFF">
                    <a:alpha val="70000"/>
                  </a:srgbClr>
                </a:solidFill>
                <a:latin typeface="Source Sans 3"/>
              </a:rPr>
              <a:t>sfw.one/brochure-casestudies</a:t>
            </a:r>
          </a:p>
        </p:txBody>
      </p:sp>
      <p:sp>
        <p:nvSpPr>
          <p:cNvPr id="24" name="text: caption"/>
          <p:cNvSpPr txBox="1"/>
          <p:nvPr/>
        </p:nvSpPr>
        <p:spPr>
          <a:xfrm>
            <a:off x="255984" y="7302103"/>
            <a:ext cx="3023592" cy="214312"/>
          </a:xfrm>
          <a:prstGeom prst="rect">
            <a:avLst/>
          </a:prstGeom>
          <a:noFill/>
        </p:spPr>
        <p:txBody>
          <a:bodyPr wrap="square" lIns="0" rIns="0" tIns="0" bIns="0">
            <a:noAutofit/>
          </a:bodyPr>
          <a:lstStyle/>
          <a:p>
            <a:pPr algn="l">
              <a:lnSpc>
                <a:spcPts val="844"/>
              </a:lnSpc>
            </a:pPr>
            <a:r>
              <a:rPr sz="650" b="0" i="1">
                <a:solidFill>
                  <a:srgbClr val="FFFFFF">
                    <a:alpha val="70000"/>
                  </a:srgbClr>
                </a:solidFill>
                <a:latin typeface="Source Sans 3"/>
              </a:rPr>
              <a:t>Results shown are from individual sites in specific contexts; outcomes vary with climate, crop and management.</a:t>
            </a:r>
          </a:p>
        </p:txBody>
      </p:sp>
      <p:sp>
        <p:nvSpPr>
          <p:cNvPr id="25" name="rect: panel 4 ground"/>
          <p:cNvSpPr/>
          <p:nvPr/>
        </p:nvSpPr>
        <p:spPr>
          <a:xfrm>
            <a:off x="3429000" y="-114300"/>
            <a:ext cx="3429000" cy="800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 banner background"/>
          <p:cNvSpPr/>
          <p:nvPr/>
        </p:nvSpPr>
        <p:spPr>
          <a:xfrm>
            <a:off x="3429000" y="-132606"/>
            <a:ext cx="3429000" cy="1028700"/>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eyebrow"/>
          <p:cNvSpPr txBox="1"/>
          <p:nvPr/>
        </p:nvSpPr>
        <p:spPr>
          <a:xfrm>
            <a:off x="3684984" y="260152"/>
            <a:ext cx="3023592"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ON YOUR FARM</a:t>
            </a:r>
          </a:p>
        </p:txBody>
      </p:sp>
      <p:sp>
        <p:nvSpPr>
          <p:cNvPr id="28" name="text: h2"/>
          <p:cNvSpPr txBox="1"/>
          <p:nvPr/>
        </p:nvSpPr>
        <p:spPr>
          <a:xfrm>
            <a:off x="3684984" y="422374"/>
            <a:ext cx="3023592"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We start with</a:t>
            </a:r>
          </a:p>
          <a:p>
            <a:pPr algn="l">
              <a:lnSpc>
                <a:spcPts val="1470"/>
              </a:lnSpc>
            </a:pPr>
            <a:r>
              <a:rPr sz="1400" b="1" i="0" spc="-8">
                <a:solidFill>
                  <a:srgbClr val="FFFFFF"/>
                </a:solidFill>
                <a:latin typeface="Montserrat"/>
              </a:rPr>
              <a:t>your soil.</a:t>
            </a:r>
          </a:p>
        </p:txBody>
      </p:sp>
      <p:pic>
        <p:nvPicPr>
          <p:cNvPr id="29" name="image: Test tubes with sample_.jpg" descr="inside-007.png"/>
          <p:cNvPicPr>
            <a:picLocks noChangeAspect="1"/>
          </p:cNvPicPr>
          <p:nvPr/>
        </p:nvPicPr>
        <p:blipFill>
          <a:blip r:embed="rId9"/>
          <a:stretch>
            <a:fillRect/>
          </a:stretch>
        </p:blipFill>
        <p:spPr>
          <a:xfrm>
            <a:off x="3429000" y="896094"/>
            <a:ext cx="3429000" cy="1097161"/>
          </a:xfrm>
          <a:prstGeom prst="rect">
            <a:avLst/>
          </a:prstGeom>
        </p:spPr>
      </p:pic>
      <p:sp>
        <p:nvSpPr>
          <p:cNvPr id="30" name="text: caption"/>
          <p:cNvSpPr txBox="1"/>
          <p:nvPr/>
        </p:nvSpPr>
        <p:spPr>
          <a:xfrm>
            <a:off x="3684984" y="2025253"/>
            <a:ext cx="3023592" cy="107156"/>
          </a:xfrm>
          <a:prstGeom prst="rect">
            <a:avLst/>
          </a:prstGeom>
          <a:noFill/>
        </p:spPr>
        <p:txBody>
          <a:bodyPr wrap="square" lIns="0" rIns="0" tIns="0" bIns="0">
            <a:noAutofit/>
          </a:bodyPr>
          <a:lstStyle/>
          <a:p>
            <a:pPr algn="l">
              <a:lnSpc>
                <a:spcPts val="844"/>
              </a:lnSpc>
            </a:pPr>
            <a:r>
              <a:rPr sz="650" b="0" i="1">
                <a:solidFill>
                  <a:srgbClr val="6A665C"/>
                </a:solidFill>
                <a:latin typeface="Source Sans 3"/>
              </a:rPr>
              <a:t>Soil samples beside the microscope.</a:t>
            </a:r>
          </a:p>
        </p:txBody>
      </p:sp>
      <p:sp>
        <p:nvSpPr>
          <p:cNvPr id="31" name="text: lede"/>
          <p:cNvSpPr txBox="1"/>
          <p:nvPr/>
        </p:nvSpPr>
        <p:spPr>
          <a:xfrm>
            <a:off x="3684984" y="2328714"/>
            <a:ext cx="3023592" cy="646509"/>
          </a:xfrm>
          <a:prstGeom prst="rect">
            <a:avLst/>
          </a:prstGeom>
          <a:noFill/>
        </p:spPr>
        <p:txBody>
          <a:bodyPr wrap="square" lIns="0" rIns="0" tIns="0" bIns="0">
            <a:noAutofit/>
          </a:bodyPr>
          <a:lstStyle/>
          <a:p>
            <a:pPr algn="l">
              <a:lnSpc>
                <a:spcPts val="1274"/>
              </a:lnSpc>
            </a:pPr>
            <a:r>
              <a:rPr sz="1000" b="0" i="0">
                <a:solidFill>
                  <a:srgbClr val="333130"/>
                </a:solidFill>
                <a:latin typeface="Source Sans 3"/>
              </a:rPr>
              <a:t>The steps are the same at every scale: look at the biology under a microscope, add what is missing to rebalance the microbial content, then measure again to confirm microbial counts are going in the expected directions.</a:t>
            </a:r>
          </a:p>
        </p:txBody>
      </p:sp>
      <p:sp>
        <p:nvSpPr>
          <p:cNvPr id="32" name="text: h3"/>
          <p:cNvSpPr txBox="1"/>
          <p:nvPr/>
        </p:nvSpPr>
        <p:spPr>
          <a:xfrm>
            <a:off x="3684984" y="3116759"/>
            <a:ext cx="3023592"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What we test before we recommend</a:t>
            </a:r>
          </a:p>
        </p:txBody>
      </p:sp>
      <p:pic>
        <p:nvPicPr>
          <p:cNvPr id="33" name="image: icon #i-flask" descr="inside-008.png"/>
          <p:cNvPicPr>
            <a:picLocks noChangeAspect="1"/>
          </p:cNvPicPr>
          <p:nvPr/>
        </p:nvPicPr>
        <p:blipFill>
          <a:blip r:embed="rId10"/>
          <a:stretch>
            <a:fillRect/>
          </a:stretch>
        </p:blipFill>
        <p:spPr>
          <a:xfrm>
            <a:off x="3684984" y="3284041"/>
            <a:ext cx="155377" cy="155377"/>
          </a:xfrm>
          <a:prstGeom prst="rect">
            <a:avLst/>
          </a:prstGeom>
        </p:spPr>
      </p:pic>
      <p:sp>
        <p:nvSpPr>
          <p:cNvPr id="34" name="text: div"/>
          <p:cNvSpPr txBox="1"/>
          <p:nvPr/>
        </p:nvSpPr>
        <p:spPr>
          <a:xfrm>
            <a:off x="3918049" y="3276749"/>
            <a:ext cx="2783535" cy="313432"/>
          </a:xfrm>
          <a:prstGeom prst="rect">
            <a:avLst/>
          </a:prstGeom>
          <a:noFill/>
        </p:spPr>
        <p:txBody>
          <a:bodyPr wrap="square" lIns="0" rIns="0" tIns="0" bIns="0">
            <a:noAutofit/>
          </a:bodyPr>
          <a:lstStyle/>
          <a:p>
            <a:pPr algn="l">
              <a:lnSpc>
                <a:spcPts val="1197"/>
              </a:lnSpc>
            </a:pPr>
            <a:r>
              <a:rPr sz="900" b="1" i="0">
                <a:solidFill>
                  <a:srgbClr val="4F3433"/>
                </a:solidFill>
                <a:latin typeface="Source Sans 3"/>
              </a:rPr>
              <a:t>Diagnostic first.</a:t>
            </a:r>
            <a:r>
              <a:rPr sz="900" b="0" i="0">
                <a:solidFill>
                  <a:srgbClr val="333130"/>
                </a:solidFill>
                <a:latin typeface="Source Sans 3"/>
              </a:rPr>
              <a:t> Every recommendation starts with a biological analysis under a microscope.</a:t>
            </a:r>
          </a:p>
        </p:txBody>
      </p:sp>
      <p:pic>
        <p:nvPicPr>
          <p:cNvPr id="35" name="image: icon #i-microscope" descr="inside-009.png"/>
          <p:cNvPicPr>
            <a:picLocks noChangeAspect="1"/>
          </p:cNvPicPr>
          <p:nvPr/>
        </p:nvPicPr>
        <p:blipFill>
          <a:blip r:embed="rId11"/>
          <a:stretch>
            <a:fillRect/>
          </a:stretch>
        </p:blipFill>
        <p:spPr>
          <a:xfrm>
            <a:off x="3684984" y="3624858"/>
            <a:ext cx="155377" cy="155377"/>
          </a:xfrm>
          <a:prstGeom prst="rect">
            <a:avLst/>
          </a:prstGeom>
        </p:spPr>
      </p:pic>
      <p:sp>
        <p:nvSpPr>
          <p:cNvPr id="36" name="text: div"/>
          <p:cNvSpPr txBox="1"/>
          <p:nvPr/>
        </p:nvSpPr>
        <p:spPr>
          <a:xfrm>
            <a:off x="3918049" y="3617565"/>
            <a:ext cx="2783535" cy="313432"/>
          </a:xfrm>
          <a:prstGeom prst="rect">
            <a:avLst/>
          </a:prstGeom>
          <a:noFill/>
        </p:spPr>
        <p:txBody>
          <a:bodyPr wrap="square" lIns="0" rIns="0" tIns="0" bIns="0">
            <a:noAutofit/>
          </a:bodyPr>
          <a:lstStyle/>
          <a:p>
            <a:pPr algn="l">
              <a:lnSpc>
                <a:spcPts val="1197"/>
              </a:lnSpc>
            </a:pPr>
            <a:r>
              <a:rPr sz="900" b="1" i="0">
                <a:solidFill>
                  <a:srgbClr val="4F3433"/>
                </a:solidFill>
                <a:latin typeface="Source Sans 3"/>
              </a:rPr>
              <a:t>Measurable.</a:t>
            </a:r>
            <a:r>
              <a:rPr sz="900" b="0" i="0">
                <a:solidFill>
                  <a:srgbClr val="333130"/>
                </a:solidFill>
                <a:latin typeface="Source Sans 3"/>
              </a:rPr>
              <a:t> We provide a relative count of various microbes present in your soil or compost sample.</a:t>
            </a:r>
          </a:p>
        </p:txBody>
      </p:sp>
      <p:pic>
        <p:nvPicPr>
          <p:cNvPr id="37" name="image: icon #i-field" descr="inside-010.png"/>
          <p:cNvPicPr>
            <a:picLocks noChangeAspect="1"/>
          </p:cNvPicPr>
          <p:nvPr/>
        </p:nvPicPr>
        <p:blipFill>
          <a:blip r:embed="rId12"/>
          <a:stretch>
            <a:fillRect/>
          </a:stretch>
        </p:blipFill>
        <p:spPr>
          <a:xfrm>
            <a:off x="3684984" y="3965674"/>
            <a:ext cx="155377" cy="155377"/>
          </a:xfrm>
          <a:prstGeom prst="rect">
            <a:avLst/>
          </a:prstGeom>
        </p:spPr>
      </p:pic>
      <p:sp>
        <p:nvSpPr>
          <p:cNvPr id="38" name="text: div"/>
          <p:cNvSpPr txBox="1"/>
          <p:nvPr/>
        </p:nvSpPr>
        <p:spPr>
          <a:xfrm>
            <a:off x="3918049" y="3958382"/>
            <a:ext cx="2783535" cy="465386"/>
          </a:xfrm>
          <a:prstGeom prst="rect">
            <a:avLst/>
          </a:prstGeom>
          <a:noFill/>
        </p:spPr>
        <p:txBody>
          <a:bodyPr wrap="square" lIns="0" rIns="0" tIns="0" bIns="0">
            <a:noAutofit/>
          </a:bodyPr>
          <a:lstStyle/>
          <a:p>
            <a:pPr algn="l">
              <a:lnSpc>
                <a:spcPts val="1197"/>
              </a:lnSpc>
            </a:pPr>
            <a:r>
              <a:rPr sz="900" b="1" i="0">
                <a:solidFill>
                  <a:srgbClr val="4F3433"/>
                </a:solidFill>
                <a:latin typeface="Source Sans 3"/>
              </a:rPr>
              <a:t>Adaptation and retrofitting.</a:t>
            </a:r>
            <a:r>
              <a:rPr sz="900" b="0" i="0">
                <a:solidFill>
                  <a:srgbClr val="333130"/>
                </a:solidFill>
                <a:latin typeface="Source Sans 3"/>
              </a:rPr>
              <a:t> We help you convert your current operations to the Soil Food Web Approach, at any scale.</a:t>
            </a:r>
          </a:p>
        </p:txBody>
      </p:sp>
      <p:pic>
        <p:nvPicPr>
          <p:cNvPr id="39" name="image: testate-amoeba-40x.jpg" descr="inside-011.png"/>
          <p:cNvPicPr>
            <a:picLocks noChangeAspect="1"/>
          </p:cNvPicPr>
          <p:nvPr/>
        </p:nvPicPr>
        <p:blipFill>
          <a:blip r:embed="rId13"/>
          <a:stretch>
            <a:fillRect/>
          </a:stretch>
        </p:blipFill>
        <p:spPr>
          <a:xfrm>
            <a:off x="3429000" y="4565303"/>
            <a:ext cx="3429000" cy="841177"/>
          </a:xfrm>
          <a:prstGeom prst="rect">
            <a:avLst/>
          </a:prstGeom>
        </p:spPr>
      </p:pic>
      <p:sp>
        <p:nvSpPr>
          <p:cNvPr id="40" name="text: caption"/>
          <p:cNvSpPr txBox="1"/>
          <p:nvPr/>
        </p:nvSpPr>
        <p:spPr>
          <a:xfrm>
            <a:off x="3684984" y="5438477"/>
            <a:ext cx="3023592" cy="321469"/>
          </a:xfrm>
          <a:prstGeom prst="rect">
            <a:avLst/>
          </a:prstGeom>
          <a:noFill/>
        </p:spPr>
        <p:txBody>
          <a:bodyPr wrap="square" lIns="0" rIns="0" tIns="0" bIns="0">
            <a:noAutofit/>
          </a:bodyPr>
          <a:lstStyle/>
          <a:p>
            <a:pPr algn="l">
              <a:lnSpc>
                <a:spcPts val="844"/>
              </a:lnSpc>
            </a:pPr>
            <a:r>
              <a:rPr sz="650" b="0" i="1">
                <a:solidFill>
                  <a:srgbClr val="6A665C"/>
                </a:solidFill>
                <a:latin typeface="Source Sans 3"/>
              </a:rPr>
              <a:t>Testate amoeba, 40x objective. Photograph: Joy Kaluf. A microbial count names what is present in the sample and their relative numbers: bacteria, fungi, protozoa, nematodes and microarthropods.</a:t>
            </a:r>
          </a:p>
        </p:txBody>
      </p:sp>
      <p:sp>
        <p:nvSpPr>
          <p:cNvPr id="41" name="text: h3"/>
          <p:cNvSpPr txBox="1"/>
          <p:nvPr/>
        </p:nvSpPr>
        <p:spPr>
          <a:xfrm>
            <a:off x="3684984" y="5901482"/>
            <a:ext cx="3023592"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What healthy soil biology does</a:t>
            </a:r>
          </a:p>
        </p:txBody>
      </p:sp>
      <p:pic>
        <p:nvPicPr>
          <p:cNvPr id="42" name="image: icon #i-cycle" descr="inside-012.png"/>
          <p:cNvPicPr>
            <a:picLocks noChangeAspect="1"/>
          </p:cNvPicPr>
          <p:nvPr/>
        </p:nvPicPr>
        <p:blipFill>
          <a:blip r:embed="rId14"/>
          <a:stretch>
            <a:fillRect/>
          </a:stretch>
        </p:blipFill>
        <p:spPr>
          <a:xfrm>
            <a:off x="3878163" y="6148239"/>
            <a:ext cx="274290" cy="274290"/>
          </a:xfrm>
          <a:prstGeom prst="rect">
            <a:avLst/>
          </a:prstGeom>
        </p:spPr>
      </p:pic>
      <p:sp>
        <p:nvSpPr>
          <p:cNvPr id="43" name="text: l"/>
          <p:cNvSpPr txBox="1"/>
          <p:nvPr/>
        </p:nvSpPr>
        <p:spPr>
          <a:xfrm>
            <a:off x="3684984" y="6463605"/>
            <a:ext cx="699671" cy="182463"/>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CYCLES</a:t>
            </a:r>
          </a:p>
          <a:p>
            <a:pPr algn="ctr">
              <a:lnSpc>
                <a:spcPts val="719"/>
              </a:lnSpc>
            </a:pPr>
            <a:r>
              <a:rPr sz="600" b="1" i="0" spc="49">
                <a:solidFill>
                  <a:srgbClr val="4F3433"/>
                </a:solidFill>
                <a:latin typeface="Montserrat"/>
              </a:rPr>
              <a:t>NUTRIENTS</a:t>
            </a:r>
          </a:p>
        </p:txBody>
      </p:sp>
      <p:pic>
        <p:nvPicPr>
          <p:cNvPr id="44" name="image: icon #i-aggregate" descr="inside-013.png"/>
          <p:cNvPicPr>
            <a:picLocks noChangeAspect="1"/>
          </p:cNvPicPr>
          <p:nvPr/>
        </p:nvPicPr>
        <p:blipFill>
          <a:blip r:embed="rId15"/>
          <a:stretch>
            <a:fillRect/>
          </a:stretch>
        </p:blipFill>
        <p:spPr>
          <a:xfrm>
            <a:off x="4630341" y="6148239"/>
            <a:ext cx="274290" cy="274290"/>
          </a:xfrm>
          <a:prstGeom prst="rect">
            <a:avLst/>
          </a:prstGeom>
        </p:spPr>
      </p:pic>
      <p:sp>
        <p:nvSpPr>
          <p:cNvPr id="45" name="text: l"/>
          <p:cNvSpPr txBox="1"/>
          <p:nvPr/>
        </p:nvSpPr>
        <p:spPr>
          <a:xfrm>
            <a:off x="4437162" y="6463605"/>
            <a:ext cx="699671" cy="273695"/>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CREATES</a:t>
            </a:r>
          </a:p>
          <a:p>
            <a:pPr algn="ctr">
              <a:lnSpc>
                <a:spcPts val="719"/>
              </a:lnSpc>
            </a:pPr>
            <a:r>
              <a:rPr sz="600" b="1" i="0" spc="49">
                <a:solidFill>
                  <a:srgbClr val="4F3433"/>
                </a:solidFill>
                <a:latin typeface="Montserrat"/>
              </a:rPr>
              <a:t>SOIL</a:t>
            </a:r>
          </a:p>
          <a:p>
            <a:pPr algn="ctr">
              <a:lnSpc>
                <a:spcPts val="719"/>
              </a:lnSpc>
            </a:pPr>
            <a:r>
              <a:rPr sz="600" b="1" i="0" spc="49">
                <a:solidFill>
                  <a:srgbClr val="4F3433"/>
                </a:solidFill>
                <a:latin typeface="Montserrat"/>
              </a:rPr>
              <a:t>STRUCTURE</a:t>
            </a:r>
          </a:p>
        </p:txBody>
      </p:sp>
      <p:pic>
        <p:nvPicPr>
          <p:cNvPr id="46" name="image: icon #i-weed" descr="inside-014.png"/>
          <p:cNvPicPr>
            <a:picLocks noChangeAspect="1"/>
          </p:cNvPicPr>
          <p:nvPr/>
        </p:nvPicPr>
        <p:blipFill>
          <a:blip r:embed="rId16"/>
          <a:stretch>
            <a:fillRect/>
          </a:stretch>
        </p:blipFill>
        <p:spPr>
          <a:xfrm>
            <a:off x="5382518" y="6148239"/>
            <a:ext cx="274290" cy="274290"/>
          </a:xfrm>
          <a:prstGeom prst="rect">
            <a:avLst/>
          </a:prstGeom>
        </p:spPr>
      </p:pic>
      <p:sp>
        <p:nvSpPr>
          <p:cNvPr id="47" name="text: l"/>
          <p:cNvSpPr txBox="1"/>
          <p:nvPr/>
        </p:nvSpPr>
        <p:spPr>
          <a:xfrm>
            <a:off x="5189339" y="6463605"/>
            <a:ext cx="699671" cy="273695"/>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INHIBITS</a:t>
            </a:r>
          </a:p>
          <a:p>
            <a:pPr algn="ctr">
              <a:lnSpc>
                <a:spcPts val="719"/>
              </a:lnSpc>
            </a:pPr>
            <a:r>
              <a:rPr sz="600" b="1" i="0" spc="49">
                <a:solidFill>
                  <a:srgbClr val="4F3433"/>
                </a:solidFill>
                <a:latin typeface="Montserrat"/>
              </a:rPr>
              <a:t>WEED</a:t>
            </a:r>
          </a:p>
          <a:p>
            <a:pPr algn="ctr">
              <a:lnSpc>
                <a:spcPts val="719"/>
              </a:lnSpc>
            </a:pPr>
            <a:r>
              <a:rPr sz="600" b="1" i="0" spc="49">
                <a:solidFill>
                  <a:srgbClr val="4F3433"/>
                </a:solidFill>
                <a:latin typeface="Montserrat"/>
              </a:rPr>
              <a:t>PRESSURE</a:t>
            </a:r>
          </a:p>
        </p:txBody>
      </p:sp>
      <p:pic>
        <p:nvPicPr>
          <p:cNvPr id="48" name="image: icon #i-shield" descr="inside-015.png"/>
          <p:cNvPicPr>
            <a:picLocks noChangeAspect="1"/>
          </p:cNvPicPr>
          <p:nvPr/>
        </p:nvPicPr>
        <p:blipFill>
          <a:blip r:embed="rId17"/>
          <a:stretch>
            <a:fillRect/>
          </a:stretch>
        </p:blipFill>
        <p:spPr>
          <a:xfrm>
            <a:off x="6134695" y="6148239"/>
            <a:ext cx="274290" cy="274290"/>
          </a:xfrm>
          <a:prstGeom prst="rect">
            <a:avLst/>
          </a:prstGeom>
        </p:spPr>
      </p:pic>
      <p:sp>
        <p:nvSpPr>
          <p:cNvPr id="49" name="text: l"/>
          <p:cNvSpPr txBox="1"/>
          <p:nvPr/>
        </p:nvSpPr>
        <p:spPr>
          <a:xfrm>
            <a:off x="5941516" y="6463605"/>
            <a:ext cx="699671" cy="273695"/>
          </a:xfrm>
          <a:prstGeom prst="rect">
            <a:avLst/>
          </a:prstGeom>
          <a:noFill/>
        </p:spPr>
        <p:txBody>
          <a:bodyPr wrap="square" lIns="0" rIns="0" tIns="0" bIns="0">
            <a:noAutofit/>
          </a:bodyPr>
          <a:lstStyle/>
          <a:p>
            <a:pPr algn="ctr">
              <a:lnSpc>
                <a:spcPts val="719"/>
              </a:lnSpc>
            </a:pPr>
            <a:r>
              <a:rPr sz="600" b="1" i="0" spc="49">
                <a:solidFill>
                  <a:srgbClr val="4F3433"/>
                </a:solidFill>
                <a:latin typeface="Montserrat"/>
              </a:rPr>
              <a:t>REDUCES</a:t>
            </a:r>
          </a:p>
          <a:p>
            <a:pPr algn="ctr">
              <a:lnSpc>
                <a:spcPts val="719"/>
              </a:lnSpc>
            </a:pPr>
            <a:r>
              <a:rPr sz="600" b="1" i="0" spc="49">
                <a:solidFill>
                  <a:srgbClr val="4F3433"/>
                </a:solidFill>
                <a:latin typeface="Montserrat"/>
              </a:rPr>
              <a:t>PESTS AND</a:t>
            </a:r>
          </a:p>
          <a:p>
            <a:pPr algn="ctr">
              <a:lnSpc>
                <a:spcPts val="719"/>
              </a:lnSpc>
            </a:pPr>
            <a:r>
              <a:rPr sz="600" b="1" i="0" spc="49">
                <a:solidFill>
                  <a:srgbClr val="4F3433"/>
                </a:solidFill>
                <a:latin typeface="Montserrat"/>
              </a:rPr>
              <a:t>DISEASE</a:t>
            </a:r>
          </a:p>
        </p:txBody>
      </p:sp>
      <p:sp>
        <p:nvSpPr>
          <p:cNvPr id="50" name="rect: card background"/>
          <p:cNvSpPr/>
          <p:nvPr/>
        </p:nvSpPr>
        <p:spPr>
          <a:xfrm>
            <a:off x="3684984" y="6824067"/>
            <a:ext cx="2917031" cy="540246"/>
          </a:xfrm>
          <a:prstGeom prst="roundRect">
            <a:avLst>
              <a:gd name="adj" fmla="val 7616"/>
            </a:avLst>
          </a:prstGeom>
          <a:solidFill>
            <a:srgbClr val="E6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 left rule"/>
          <p:cNvSpPr/>
          <p:nvPr/>
        </p:nvSpPr>
        <p:spPr>
          <a:xfrm>
            <a:off x="3684984" y="6824067"/>
            <a:ext cx="19050" cy="540246"/>
          </a:xfrm>
          <a:prstGeom prst="rect">
            <a:avLst/>
          </a:prstGeom>
          <a:solidFill>
            <a:srgbClr val="156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 pull"/>
          <p:cNvSpPr txBox="1"/>
          <p:nvPr/>
        </p:nvSpPr>
        <p:spPr>
          <a:xfrm>
            <a:off x="3822799" y="6933754"/>
            <a:ext cx="2759315" cy="320873"/>
          </a:xfrm>
          <a:prstGeom prst="rect">
            <a:avLst/>
          </a:prstGeom>
          <a:noFill/>
        </p:spPr>
        <p:txBody>
          <a:bodyPr wrap="square" lIns="0" rIns="0" tIns="0" bIns="0">
            <a:noAutofit/>
          </a:bodyPr>
          <a:lstStyle/>
          <a:p>
            <a:pPr algn="l">
              <a:lnSpc>
                <a:spcPts val="1264"/>
              </a:lnSpc>
            </a:pPr>
            <a:r>
              <a:rPr sz="1000" b="0" i="0">
                <a:solidFill>
                  <a:srgbClr val="333130"/>
                </a:solidFill>
                <a:latin typeface="Source Sans 3"/>
              </a:rPr>
              <a:t>The approach is designed to dramatically reduce dependence on chemical inputs.</a:t>
            </a:r>
          </a:p>
        </p:txBody>
      </p:sp>
      <p:sp>
        <p:nvSpPr>
          <p:cNvPr id="53" name="rect: panel 5 ground"/>
          <p:cNvSpPr/>
          <p:nvPr/>
        </p:nvSpPr>
        <p:spPr>
          <a:xfrm>
            <a:off x="6858000" y="-114300"/>
            <a:ext cx="3314700" cy="8001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 banner background"/>
          <p:cNvSpPr/>
          <p:nvPr/>
        </p:nvSpPr>
        <p:spPr>
          <a:xfrm>
            <a:off x="6858000" y="-132606"/>
            <a:ext cx="3333006" cy="1028700"/>
          </a:xfrm>
          <a:prstGeom prst="rect">
            <a:avLst/>
          </a:prstGeom>
          <a:gradFill rotWithShape="1">
            <a:gsLst>
              <a:gs pos="0">
                <a:srgbClr val="156826"/>
              </a:gs>
              <a:gs pos="100000">
                <a:srgbClr val="22371F"/>
              </a:gs>
            </a:gsLst>
            <a:lin ang="408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 eyebrow"/>
          <p:cNvSpPr txBox="1"/>
          <p:nvPr/>
        </p:nvSpPr>
        <p:spPr>
          <a:xfrm>
            <a:off x="7113984" y="260152"/>
            <a:ext cx="2788134" cy="112068"/>
          </a:xfrm>
          <a:prstGeom prst="rect">
            <a:avLst/>
          </a:prstGeom>
          <a:noFill/>
        </p:spPr>
        <p:txBody>
          <a:bodyPr wrap="square" lIns="0" rIns="0" tIns="0" bIns="0">
            <a:noAutofit/>
          </a:bodyPr>
          <a:lstStyle/>
          <a:p>
            <a:pPr algn="l">
              <a:lnSpc>
                <a:spcPts val="883"/>
              </a:lnSpc>
            </a:pPr>
            <a:r>
              <a:rPr sz="650" b="1" i="0" spc="96">
                <a:solidFill>
                  <a:srgbClr val="FFFFFF">
                    <a:alpha val="86000"/>
                  </a:srgbClr>
                </a:solidFill>
                <a:latin typeface="Montserrat"/>
              </a:rPr>
              <a:t>LEARN</a:t>
            </a:r>
          </a:p>
        </p:txBody>
      </p:sp>
      <p:sp>
        <p:nvSpPr>
          <p:cNvPr id="56" name="text: h2"/>
          <p:cNvSpPr txBox="1"/>
          <p:nvPr/>
        </p:nvSpPr>
        <p:spPr>
          <a:xfrm>
            <a:off x="7113984" y="422374"/>
            <a:ext cx="2788134" cy="373261"/>
          </a:xfrm>
          <a:prstGeom prst="rect">
            <a:avLst/>
          </a:prstGeom>
          <a:noFill/>
        </p:spPr>
        <p:txBody>
          <a:bodyPr wrap="square" lIns="0" rIns="0" tIns="0" bIns="0">
            <a:noAutofit/>
          </a:bodyPr>
          <a:lstStyle/>
          <a:p>
            <a:pPr algn="l">
              <a:lnSpc>
                <a:spcPts val="1470"/>
              </a:lnSpc>
            </a:pPr>
            <a:r>
              <a:rPr sz="1400" b="1" i="0" spc="-8">
                <a:solidFill>
                  <a:srgbClr val="FFFFFF"/>
                </a:solidFill>
                <a:latin typeface="Montserrat"/>
              </a:rPr>
              <a:t>Learn to grow your own soil biology.</a:t>
            </a:r>
          </a:p>
        </p:txBody>
      </p:sp>
      <p:pic>
        <p:nvPicPr>
          <p:cNvPr id="57" name="image: Loida Teaching 3.JPG" descr="inside-016.png"/>
          <p:cNvPicPr>
            <a:picLocks noChangeAspect="1"/>
          </p:cNvPicPr>
          <p:nvPr/>
        </p:nvPicPr>
        <p:blipFill>
          <a:blip r:embed="rId18"/>
          <a:stretch>
            <a:fillRect/>
          </a:stretch>
        </p:blipFill>
        <p:spPr>
          <a:xfrm>
            <a:off x="6858000" y="896094"/>
            <a:ext cx="3333006" cy="1097161"/>
          </a:xfrm>
          <a:prstGeom prst="rect">
            <a:avLst/>
          </a:prstGeom>
        </p:spPr>
      </p:pic>
      <p:sp>
        <p:nvSpPr>
          <p:cNvPr id="58" name="text: caption"/>
          <p:cNvSpPr txBox="1"/>
          <p:nvPr/>
        </p:nvSpPr>
        <p:spPr>
          <a:xfrm>
            <a:off x="7113984" y="2025253"/>
            <a:ext cx="2806989" cy="107156"/>
          </a:xfrm>
          <a:prstGeom prst="rect">
            <a:avLst/>
          </a:prstGeom>
          <a:noFill/>
        </p:spPr>
        <p:txBody>
          <a:bodyPr wrap="square" lIns="0" rIns="0" tIns="0" bIns="0">
            <a:noAutofit/>
          </a:bodyPr>
          <a:lstStyle/>
          <a:p>
            <a:pPr algn="l">
              <a:lnSpc>
                <a:spcPts val="844"/>
              </a:lnSpc>
            </a:pPr>
            <a:r>
              <a:rPr sz="650" b="0" i="1">
                <a:solidFill>
                  <a:srgbClr val="6A665C"/>
                </a:solidFill>
                <a:latin typeface="Source Sans 3"/>
              </a:rPr>
              <a:t>A mentor teaching on working land.</a:t>
            </a:r>
          </a:p>
        </p:txBody>
      </p:sp>
      <p:sp>
        <p:nvSpPr>
          <p:cNvPr id="59" name="text: lede"/>
          <p:cNvSpPr txBox="1"/>
          <p:nvPr/>
        </p:nvSpPr>
        <p:spPr>
          <a:xfrm>
            <a:off x="7113984" y="2328714"/>
            <a:ext cx="2788134" cy="646509"/>
          </a:xfrm>
          <a:prstGeom prst="rect">
            <a:avLst/>
          </a:prstGeom>
          <a:noFill/>
        </p:spPr>
        <p:txBody>
          <a:bodyPr wrap="square" lIns="0" rIns="0" tIns="0" bIns="0">
            <a:noAutofit/>
          </a:bodyPr>
          <a:lstStyle/>
          <a:p>
            <a:pPr algn="l">
              <a:lnSpc>
                <a:spcPts val="1274"/>
              </a:lnSpc>
            </a:pPr>
            <a:r>
              <a:rPr sz="1000" b="0" i="0">
                <a:solidFill>
                  <a:srgbClr val="333130"/>
                </a:solidFill>
                <a:latin typeface="Source Sans 3"/>
              </a:rPr>
              <a:t>Everyone starts with the Foundation Courses. Where you go next depends on whether you want to apply your skills to your own land or help other farmers improve their soils.</a:t>
            </a:r>
          </a:p>
        </p:txBody>
      </p:sp>
      <p:pic>
        <p:nvPicPr>
          <p:cNvPr id="60" name="image: icon #i-document" descr="inside-017.png"/>
          <p:cNvPicPr>
            <a:picLocks noChangeAspect="1"/>
          </p:cNvPicPr>
          <p:nvPr/>
        </p:nvPicPr>
        <p:blipFill>
          <a:blip r:embed="rId19"/>
          <a:stretch>
            <a:fillRect/>
          </a:stretch>
        </p:blipFill>
        <p:spPr>
          <a:xfrm>
            <a:off x="7113984" y="3029992"/>
            <a:ext cx="173682" cy="173682"/>
          </a:xfrm>
          <a:prstGeom prst="rect">
            <a:avLst/>
          </a:prstGeom>
        </p:spPr>
      </p:pic>
      <p:sp>
        <p:nvSpPr>
          <p:cNvPr id="61" name="text: h3"/>
          <p:cNvSpPr txBox="1"/>
          <p:nvPr/>
        </p:nvSpPr>
        <p:spPr>
          <a:xfrm>
            <a:off x="7356128" y="3052762"/>
            <a:ext cx="813721"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Start learning</a:t>
            </a:r>
          </a:p>
        </p:txBody>
      </p:sp>
      <p:sp>
        <p:nvSpPr>
          <p:cNvPr id="62" name="text: p"/>
          <p:cNvSpPr txBox="1"/>
          <p:nvPr/>
        </p:nvSpPr>
        <p:spPr>
          <a:xfrm>
            <a:off x="7113984" y="3235672"/>
            <a:ext cx="2788134" cy="668238"/>
          </a:xfrm>
          <a:prstGeom prst="rect">
            <a:avLst/>
          </a:prstGeom>
          <a:noFill/>
        </p:spPr>
        <p:txBody>
          <a:bodyPr wrap="square" lIns="0" rIns="0" tIns="0" bIns="0">
            <a:noAutofit/>
          </a:bodyPr>
          <a:lstStyle/>
          <a:p>
            <a:pPr algn="l">
              <a:lnSpc>
                <a:spcPts val="1053"/>
              </a:lnSpc>
            </a:pPr>
            <a:r>
              <a:rPr sz="800" b="0" i="0">
                <a:solidFill>
                  <a:srgbClr val="333130"/>
                </a:solidFill>
                <a:latin typeface="Source Sans 3"/>
              </a:rPr>
              <a:t>The Foundation Courses give you the biological literacy to understand what is actually happening in your soil, why it matters, and what you can do about it. They are online, self-paced, take about 150 hours to complete, and are a prerequisite to any Advanced Program.</a:t>
            </a:r>
          </a:p>
        </p:txBody>
      </p:sp>
      <p:sp>
        <p:nvSpPr>
          <p:cNvPr id="63" name="rect: hairline"/>
          <p:cNvSpPr/>
          <p:nvPr/>
        </p:nvSpPr>
        <p:spPr>
          <a:xfrm>
            <a:off x="7113984" y="3958679"/>
            <a:ext cx="2688431" cy="9525"/>
          </a:xfrm>
          <a:prstGeom prst="rect">
            <a:avLst/>
          </a:prstGeom>
          <a:solidFill>
            <a:srgbClr val="4F3433">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image: icon #i-microscope" descr="inside-018.png"/>
          <p:cNvPicPr>
            <a:picLocks noChangeAspect="1"/>
          </p:cNvPicPr>
          <p:nvPr/>
        </p:nvPicPr>
        <p:blipFill>
          <a:blip r:embed="rId20"/>
          <a:stretch>
            <a:fillRect/>
          </a:stretch>
        </p:blipFill>
        <p:spPr>
          <a:xfrm>
            <a:off x="7113984" y="4022973"/>
            <a:ext cx="173682" cy="173682"/>
          </a:xfrm>
          <a:prstGeom prst="rect">
            <a:avLst/>
          </a:prstGeom>
        </p:spPr>
      </p:pic>
      <p:sp>
        <p:nvSpPr>
          <p:cNvPr id="65" name="text: h3"/>
          <p:cNvSpPr txBox="1"/>
          <p:nvPr/>
        </p:nvSpPr>
        <p:spPr>
          <a:xfrm>
            <a:off x="7356128" y="4045744"/>
            <a:ext cx="892207"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Go professional</a:t>
            </a:r>
          </a:p>
        </p:txBody>
      </p:sp>
      <p:sp>
        <p:nvSpPr>
          <p:cNvPr id="66" name="text: p"/>
          <p:cNvSpPr txBox="1"/>
          <p:nvPr/>
        </p:nvSpPr>
        <p:spPr>
          <a:xfrm>
            <a:off x="7113984" y="4228654"/>
            <a:ext cx="2788134" cy="534591"/>
          </a:xfrm>
          <a:prstGeom prst="rect">
            <a:avLst/>
          </a:prstGeom>
          <a:noFill/>
        </p:spPr>
        <p:txBody>
          <a:bodyPr wrap="square" lIns="0" rIns="0" tIns="0" bIns="0">
            <a:noAutofit/>
          </a:bodyPr>
          <a:lstStyle/>
          <a:p>
            <a:pPr algn="l">
              <a:lnSpc>
                <a:spcPts val="1053"/>
              </a:lnSpc>
            </a:pPr>
            <a:r>
              <a:rPr sz="800" b="0" i="0">
                <a:solidFill>
                  <a:srgbClr val="333130"/>
                </a:solidFill>
                <a:latin typeface="Source Sans 3"/>
              </a:rPr>
              <a:t>Learn the practical application of the theory you learned in the Foundation Courses through mentor-led Advanced Programs on Soil Microscopy, BioComplete™ Compost Production, and Biological Liquid Amendments and Field Trial.</a:t>
            </a:r>
          </a:p>
        </p:txBody>
      </p:sp>
      <p:sp>
        <p:nvSpPr>
          <p:cNvPr id="67" name="rect: hairline"/>
          <p:cNvSpPr/>
          <p:nvPr/>
        </p:nvSpPr>
        <p:spPr>
          <a:xfrm>
            <a:off x="7113984" y="4818013"/>
            <a:ext cx="2688431" cy="9525"/>
          </a:xfrm>
          <a:prstGeom prst="rect">
            <a:avLst/>
          </a:prstGeom>
          <a:solidFill>
            <a:srgbClr val="4F3433">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8" name="image: icon #i-hourglass" descr="inside-019.png"/>
          <p:cNvPicPr>
            <a:picLocks noChangeAspect="1"/>
          </p:cNvPicPr>
          <p:nvPr/>
        </p:nvPicPr>
        <p:blipFill>
          <a:blip r:embed="rId21"/>
          <a:stretch>
            <a:fillRect/>
          </a:stretch>
        </p:blipFill>
        <p:spPr>
          <a:xfrm>
            <a:off x="7113984" y="4882307"/>
            <a:ext cx="173682" cy="173682"/>
          </a:xfrm>
          <a:prstGeom prst="rect">
            <a:avLst/>
          </a:prstGeom>
        </p:spPr>
      </p:pic>
      <p:sp>
        <p:nvSpPr>
          <p:cNvPr id="69" name="text: h3"/>
          <p:cNvSpPr txBox="1"/>
          <p:nvPr/>
        </p:nvSpPr>
        <p:spPr>
          <a:xfrm>
            <a:off x="7356128" y="4905077"/>
            <a:ext cx="921639"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Learn in person</a:t>
            </a:r>
          </a:p>
        </p:txBody>
      </p:sp>
      <p:sp>
        <p:nvSpPr>
          <p:cNvPr id="70" name="text: p"/>
          <p:cNvSpPr txBox="1"/>
          <p:nvPr/>
        </p:nvSpPr>
        <p:spPr>
          <a:xfrm>
            <a:off x="7113984" y="5087987"/>
            <a:ext cx="2788134" cy="668238"/>
          </a:xfrm>
          <a:prstGeom prst="rect">
            <a:avLst/>
          </a:prstGeom>
          <a:noFill/>
        </p:spPr>
        <p:txBody>
          <a:bodyPr wrap="square" lIns="0" rIns="0" tIns="0" bIns="0">
            <a:noAutofit/>
          </a:bodyPr>
          <a:lstStyle/>
          <a:p>
            <a:pPr algn="l">
              <a:lnSpc>
                <a:spcPts val="1053"/>
              </a:lnSpc>
            </a:pPr>
            <a:r>
              <a:rPr sz="800" b="0" i="0">
                <a:solidFill>
                  <a:srgbClr val="333130"/>
                </a:solidFill>
                <a:latin typeface="Source Sans 3"/>
              </a:rPr>
              <a:t>Accelerator Workshops are immersive, two-week, hands-on intensives where you produce BioComplete™ compost and biological liquid amendments live, hosted with a partner on their land. Gain a year's worth of hands-on experience in one immersive workshop.</a:t>
            </a:r>
          </a:p>
        </p:txBody>
      </p:sp>
      <p:sp>
        <p:nvSpPr>
          <p:cNvPr id="71" name="rect: hairline"/>
          <p:cNvSpPr/>
          <p:nvPr/>
        </p:nvSpPr>
        <p:spPr>
          <a:xfrm>
            <a:off x="7113984" y="5810994"/>
            <a:ext cx="2688431" cy="9525"/>
          </a:xfrm>
          <a:prstGeom prst="rect">
            <a:avLst/>
          </a:prstGeom>
          <a:solidFill>
            <a:srgbClr val="4F3433">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image: icon #i-person" descr="inside-020.png"/>
          <p:cNvPicPr>
            <a:picLocks noChangeAspect="1"/>
          </p:cNvPicPr>
          <p:nvPr/>
        </p:nvPicPr>
        <p:blipFill>
          <a:blip r:embed="rId22"/>
          <a:stretch>
            <a:fillRect/>
          </a:stretch>
        </p:blipFill>
        <p:spPr>
          <a:xfrm>
            <a:off x="7113984" y="5875288"/>
            <a:ext cx="173682" cy="173682"/>
          </a:xfrm>
          <a:prstGeom prst="rect">
            <a:avLst/>
          </a:prstGeom>
        </p:spPr>
      </p:pic>
      <p:sp>
        <p:nvSpPr>
          <p:cNvPr id="73" name="text: h3"/>
          <p:cNvSpPr txBox="1"/>
          <p:nvPr/>
        </p:nvSpPr>
        <p:spPr>
          <a:xfrm>
            <a:off x="7356128" y="5898059"/>
            <a:ext cx="852964" cy="127992"/>
          </a:xfrm>
          <a:prstGeom prst="rect">
            <a:avLst/>
          </a:prstGeom>
          <a:noFill/>
        </p:spPr>
        <p:txBody>
          <a:bodyPr wrap="square" lIns="0" rIns="0" tIns="0" bIns="0">
            <a:noAutofit/>
          </a:bodyPr>
          <a:lstStyle/>
          <a:p>
            <a:pPr algn="l">
              <a:lnSpc>
                <a:spcPts val="1008"/>
              </a:lnSpc>
            </a:pPr>
            <a:r>
              <a:rPr sz="850" b="1" i="0">
                <a:solidFill>
                  <a:srgbClr val="4F3433"/>
                </a:solidFill>
                <a:latin typeface="Montserrat"/>
              </a:rPr>
              <a:t>Where it leads</a:t>
            </a:r>
          </a:p>
        </p:txBody>
      </p:sp>
      <p:sp>
        <p:nvSpPr>
          <p:cNvPr id="74" name="text: p"/>
          <p:cNvSpPr txBox="1"/>
          <p:nvPr/>
        </p:nvSpPr>
        <p:spPr>
          <a:xfrm>
            <a:off x="7113984" y="6080968"/>
            <a:ext cx="2788134" cy="400943"/>
          </a:xfrm>
          <a:prstGeom prst="rect">
            <a:avLst/>
          </a:prstGeom>
          <a:noFill/>
        </p:spPr>
        <p:txBody>
          <a:bodyPr wrap="square" lIns="0" rIns="0" tIns="0" bIns="0">
            <a:noAutofit/>
          </a:bodyPr>
          <a:lstStyle/>
          <a:p>
            <a:pPr algn="l">
              <a:lnSpc>
                <a:spcPts val="1053"/>
              </a:lnSpc>
            </a:pPr>
            <a:r>
              <a:rPr sz="800" b="0" i="0">
                <a:solidFill>
                  <a:srgbClr val="333130"/>
                </a:solidFill>
                <a:latin typeface="Source Sans 3"/>
              </a:rPr>
              <a:t>Careers in soil biology analysis as SFW Lab-Technicians, and working with farmers and land stewards to implement the Soil Food Web Approach as SFW Consultants.</a:t>
            </a:r>
          </a:p>
        </p:txBody>
      </p:sp>
      <p:pic>
        <p:nvPicPr>
          <p:cNvPr id="75" name="image: scholarship-green.svg" descr="inside-021.png"/>
          <p:cNvPicPr>
            <a:picLocks noChangeAspect="1"/>
          </p:cNvPicPr>
          <p:nvPr/>
        </p:nvPicPr>
        <p:blipFill>
          <a:blip r:embed="rId23"/>
          <a:stretch>
            <a:fillRect/>
          </a:stretch>
        </p:blipFill>
        <p:spPr>
          <a:xfrm>
            <a:off x="7113984" y="6500068"/>
            <a:ext cx="1051471" cy="1051471"/>
          </a:xfrm>
          <a:prstGeom prst="rect">
            <a:avLst/>
          </a:prstGeom>
        </p:spPr>
      </p:pic>
      <p:sp>
        <p:nvSpPr>
          <p:cNvPr id="76" name="text: t"/>
          <p:cNvSpPr txBox="1"/>
          <p:nvPr/>
        </p:nvSpPr>
        <p:spPr>
          <a:xfrm>
            <a:off x="8275141" y="6686104"/>
            <a:ext cx="1592142" cy="132457"/>
          </a:xfrm>
          <a:prstGeom prst="rect">
            <a:avLst/>
          </a:prstGeom>
          <a:noFill/>
        </p:spPr>
        <p:txBody>
          <a:bodyPr wrap="square" lIns="0" rIns="0" tIns="0" bIns="0">
            <a:noAutofit/>
          </a:bodyPr>
          <a:lstStyle/>
          <a:p>
            <a:pPr algn="l">
              <a:lnSpc>
                <a:spcPts val="1044"/>
              </a:lnSpc>
            </a:pPr>
            <a:r>
              <a:rPr sz="900" b="1" i="0">
                <a:solidFill>
                  <a:srgbClr val="4F3433"/>
                </a:solidFill>
                <a:latin typeface="Montserrat"/>
              </a:rPr>
              <a:t>Apply for a scholarship</a:t>
            </a:r>
          </a:p>
        </p:txBody>
      </p:sp>
      <p:sp>
        <p:nvSpPr>
          <p:cNvPr id="77" name="text: d"/>
          <p:cNvSpPr txBox="1"/>
          <p:nvPr/>
        </p:nvSpPr>
        <p:spPr>
          <a:xfrm>
            <a:off x="8275141" y="6850559"/>
            <a:ext cx="1592142" cy="360313"/>
          </a:xfrm>
          <a:prstGeom prst="rect">
            <a:avLst/>
          </a:prstGeom>
          <a:noFill/>
        </p:spPr>
        <p:txBody>
          <a:bodyPr wrap="square" lIns="0" rIns="0" tIns="0" bIns="0">
            <a:noAutofit/>
          </a:bodyPr>
          <a:lstStyle/>
          <a:p>
            <a:pPr algn="l">
              <a:lnSpc>
                <a:spcPts val="947"/>
              </a:lnSpc>
            </a:pPr>
            <a:r>
              <a:rPr sz="750" b="0" i="0">
                <a:solidFill>
                  <a:srgbClr val="4A463F"/>
                </a:solidFill>
                <a:latin typeface="Source Sans 3"/>
              </a:rPr>
              <a:t>Cost shouldn't keep anyone from healing soil. Scholarships prioritize applicants in </a:t>
            </a:r>
            <a:r>
              <a:rPr sz="750" b="0" i="0">
                <a:solidFill>
                  <a:srgbClr val="4A463F"/>
                </a:solidFill>
                <a:latin typeface="Source Sans 3"/>
              </a:rPr>
              <a:t>under-resourced</a:t>
            </a:r>
            <a:r>
              <a:rPr sz="750" b="0" i="0">
                <a:solidFill>
                  <a:srgbClr val="4A463F"/>
                </a:solidFill>
                <a:latin typeface="Source Sans 3"/>
              </a:rPr>
              <a:t> regions.</a:t>
            </a:r>
          </a:p>
        </p:txBody>
      </p:sp>
      <p:sp>
        <p:nvSpPr>
          <p:cNvPr id="78" name="text: h"/>
          <p:cNvSpPr txBox="1"/>
          <p:nvPr/>
        </p:nvSpPr>
        <p:spPr>
          <a:xfrm>
            <a:off x="8275141" y="7242870"/>
            <a:ext cx="1592142" cy="122486"/>
          </a:xfrm>
          <a:prstGeom prst="rect">
            <a:avLst/>
          </a:prstGeom>
          <a:noFill/>
        </p:spPr>
        <p:txBody>
          <a:bodyPr wrap="square" lIns="0" rIns="0" tIns="0" bIns="0">
            <a:noAutofit/>
          </a:bodyPr>
          <a:lstStyle/>
          <a:p>
            <a:pPr algn="l">
              <a:lnSpc>
                <a:spcPts val="966"/>
              </a:lnSpc>
            </a:pPr>
            <a:r>
              <a:rPr sz="700" b="0" i="1">
                <a:solidFill>
                  <a:srgbClr val="6A665C"/>
                </a:solidFill>
                <a:latin typeface="Source Sans 3"/>
              </a:rPr>
              <a:t>sfw.one/brochure-scholarship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